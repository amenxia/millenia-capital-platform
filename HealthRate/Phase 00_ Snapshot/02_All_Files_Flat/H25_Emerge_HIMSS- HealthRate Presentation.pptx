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2" r:id="rId4"/>
  </p:sldMasterIdLst>
  <p:notesMasterIdLst>
    <p:notesMasterId r:id="rId15"/>
  </p:notesMasterIdLst>
  <p:handoutMasterIdLst>
    <p:handoutMasterId r:id="rId16"/>
  </p:handoutMasterIdLst>
  <p:sldIdLst>
    <p:sldId id="257" r:id="rId5"/>
    <p:sldId id="300" r:id="rId6"/>
    <p:sldId id="284" r:id="rId7"/>
    <p:sldId id="382" r:id="rId8"/>
    <p:sldId id="362" r:id="rId9"/>
    <p:sldId id="274" r:id="rId10"/>
    <p:sldId id="275" r:id="rId11"/>
    <p:sldId id="326" r:id="rId12"/>
    <p:sldId id="385" r:id="rId13"/>
    <p:sldId id="384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Prometo Medium" panose="020B0604020202020204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IMSS25 Vegas Template" id="{EC1BAD07-AE5D-4540-91E7-686AD2AF573F}">
          <p14:sldIdLst>
            <p14:sldId id="257"/>
            <p14:sldId id="300"/>
            <p14:sldId id="284"/>
            <p14:sldId id="382"/>
            <p14:sldId id="362"/>
            <p14:sldId id="274"/>
            <p14:sldId id="275"/>
            <p14:sldId id="326"/>
            <p14:sldId id="385"/>
            <p14:sldId id="384"/>
          </p14:sldIdLst>
        </p14:section>
        <p14:section name="Additional Resources" id="{BB56753F-B854-6042-85A6-F9F76912A6FA}">
          <p14:sldIdLst/>
        </p14:section>
      </p14:sectionLst>
    </p:ext>
    <p:ext uri="{EFAFB233-063F-42B5-8137-9DF3F51BA10A}">
      <p15:sldGuideLst xmlns:p15="http://schemas.microsoft.com/office/powerpoint/2012/main">
        <p15:guide id="1" pos="1536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llano, Chris" initials="VC" lastIdx="70" clrIdx="0">
    <p:extLst>
      <p:ext uri="{19B8F6BF-5375-455C-9EA6-DF929625EA0E}">
        <p15:presenceInfo xmlns:p15="http://schemas.microsoft.com/office/powerpoint/2012/main" userId="S::cvillano@himss.org::8a6140e9-0020-4fcb-84f3-9c920b9e87a1" providerId="AD"/>
      </p:ext>
    </p:extLst>
  </p:cmAuthor>
  <p:cmAuthor id="2" name="Smith, Nicole" initials="SN" lastIdx="2" clrIdx="1">
    <p:extLst>
      <p:ext uri="{19B8F6BF-5375-455C-9EA6-DF929625EA0E}">
        <p15:presenceInfo xmlns:p15="http://schemas.microsoft.com/office/powerpoint/2012/main" userId="S-1-5-21-365749239-1257169667-72670798-328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D5AF"/>
    <a:srgbClr val="D064CE"/>
    <a:srgbClr val="1E22AA"/>
    <a:srgbClr val="FFC72C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87313" autoAdjust="0"/>
  </p:normalViewPr>
  <p:slideViewPr>
    <p:cSldViewPr snapToGrid="0">
      <p:cViewPr varScale="1">
        <p:scale>
          <a:sx n="76" d="100"/>
          <a:sy n="76" d="100"/>
        </p:scale>
        <p:origin x="102" y="390"/>
      </p:cViewPr>
      <p:guideLst>
        <p:guide pos="153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74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258B16-3D20-BDE0-F33E-0E4CA61807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0887B-FDB2-4BAA-3709-1E24C312F1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F97BC-9B16-9140-B85D-BFBDB4CB7FA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1331C-6B8F-DDB9-331C-602A2C894C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054F9-3F80-8667-C4BA-03C4E3C2DF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1B390-D13F-C943-98FE-AB21D2515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14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C14AB680-645A-4C41-AF99-A6C070810F36}" type="datetimeFigureOut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F7DF604D-C3B7-41B7-992A-9AD867AC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778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604D-C3B7-41B7-992A-9AD867AC1F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783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604D-C3B7-41B7-992A-9AD867AC1F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82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– mention scope of high cost claims (oncology, CGT, OT, Stem?),</a:t>
            </a:r>
          </a:p>
          <a:p>
            <a:r>
              <a:rPr lang="en-US" dirty="0"/>
              <a:t>Scope of costs and savings =  impacts about $25-30 of PMPM cost and can save 10-20% of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604D-C3B7-41B7-992A-9AD867AC1F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32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604D-C3B7-41B7-992A-9AD867AC1F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30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604D-C3B7-41B7-992A-9AD867AC1F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6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E22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1E55CC-77FA-B1F5-16B8-17574AD008FA}"/>
              </a:ext>
            </a:extLst>
          </p:cNvPr>
          <p:cNvSpPr/>
          <p:nvPr userDrawn="1"/>
        </p:nvSpPr>
        <p:spPr>
          <a:xfrm>
            <a:off x="-200499" y="-471488"/>
            <a:ext cx="12392499" cy="75724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blue and white background&#10;&#10;Description automatically generated">
            <a:extLst>
              <a:ext uri="{FF2B5EF4-FFF2-40B4-BE49-F238E27FC236}">
                <a16:creationId xmlns:a16="http://schemas.microsoft.com/office/drawing/2014/main" id="{6203D0EB-45B4-4C5C-A9AC-2182480C0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5"/>
          <a:stretch/>
        </p:blipFill>
        <p:spPr>
          <a:xfrm>
            <a:off x="-1970373" y="-470657"/>
            <a:ext cx="15292674" cy="7546232"/>
          </a:xfrm>
          <a:prstGeom prst="rect">
            <a:avLst/>
          </a:prstGeom>
        </p:spPr>
      </p:pic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5689F44-F54F-9BC1-7C68-93E868A00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7DBEEE12-C483-5C37-881F-3EBCD2139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2" y="57154"/>
            <a:ext cx="7772400" cy="1729663"/>
          </a:xfrm>
          <a:prstGeom prst="rect">
            <a:avLst/>
          </a:prstGeom>
        </p:spPr>
      </p:pic>
      <p:pic>
        <p:nvPicPr>
          <p:cNvPr id="3" name="Picture 2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23B9F387-3D2F-5108-EEBF-DD44811342E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517" y="577620"/>
            <a:ext cx="2773410" cy="68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6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E22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1E55CC-77FA-B1F5-16B8-17574AD008FA}"/>
              </a:ext>
            </a:extLst>
          </p:cNvPr>
          <p:cNvSpPr/>
          <p:nvPr userDrawn="1"/>
        </p:nvSpPr>
        <p:spPr>
          <a:xfrm>
            <a:off x="-271463" y="-428625"/>
            <a:ext cx="12915901" cy="762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ue and white background&#10;&#10;Description automatically generated">
            <a:extLst>
              <a:ext uri="{FF2B5EF4-FFF2-40B4-BE49-F238E27FC236}">
                <a16:creationId xmlns:a16="http://schemas.microsoft.com/office/drawing/2014/main" id="{87B01200-03B1-19D5-D3A7-63A78702B0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"/>
          <a:stretch/>
        </p:blipFill>
        <p:spPr>
          <a:xfrm>
            <a:off x="-5900740" y="-768956"/>
            <a:ext cx="18223216" cy="67248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A58411-80B0-140E-E53E-C572B1391EF7}"/>
              </a:ext>
            </a:extLst>
          </p:cNvPr>
          <p:cNvSpPr/>
          <p:nvPr userDrawn="1"/>
        </p:nvSpPr>
        <p:spPr>
          <a:xfrm>
            <a:off x="-593425" y="-1673599"/>
            <a:ext cx="12915901" cy="7629525"/>
          </a:xfrm>
          <a:prstGeom prst="rect">
            <a:avLst/>
          </a:prstGeom>
          <a:solidFill>
            <a:schemeClr val="tx2">
              <a:alpha val="5000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A7168AD-D6B7-99AD-7B90-A0E2A96CBF7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4110" y="1088044"/>
            <a:ext cx="10591800" cy="999994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Title Here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658372F-CDFA-FCB1-C3A4-5C2777555C3F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4109" y="1822615"/>
            <a:ext cx="10591800" cy="518337"/>
          </a:xfrm>
        </p:spPr>
        <p:txBody>
          <a:bodyPr>
            <a:normAutofit/>
          </a:bodyPr>
          <a:lstStyle>
            <a:lvl1pPr marL="0" indent="0">
              <a:buNone/>
              <a:defRPr lang="en-US" sz="1600" b="1" kern="1200" spc="5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latinLnBrk="0" hangingPunct="1">
              <a:defRPr/>
            </a:pPr>
            <a:r>
              <a:rPr lang="en-US" dirty="0"/>
              <a:t>SUBHEAD 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8BB64-51E7-3F5A-7760-2E340A9A528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2CA03FE-D524-595D-E514-7E48769E0A2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B574BF12-7FB7-75A6-A6CC-E868866555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027210E9-21DE-2D22-AD66-383E88104A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19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1E22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1E55CC-77FA-B1F5-16B8-17574AD008FA}"/>
              </a:ext>
            </a:extLst>
          </p:cNvPr>
          <p:cNvSpPr/>
          <p:nvPr userDrawn="1"/>
        </p:nvSpPr>
        <p:spPr>
          <a:xfrm>
            <a:off x="-228601" y="-485775"/>
            <a:ext cx="13001625" cy="7943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8BB64-51E7-3F5A-7760-2E340A9A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FCFC9A0-A4DE-D1B3-BA34-F9F8D966B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Picture 1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38351D73-7003-B40E-B16F-0645DE234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09" y="-205242"/>
            <a:ext cx="2658772" cy="2554096"/>
          </a:xfrm>
          <a:prstGeom prst="rect">
            <a:avLst/>
          </a:prstGeom>
        </p:spPr>
      </p:pic>
      <p:pic>
        <p:nvPicPr>
          <p:cNvPr id="13" name="Picture 1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6D3DF094-A06B-A6C3-D14D-F0B3A545C5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8F4653CA-34A7-D9BA-4B2B-C62DD20129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30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Visu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2F00-5CC0-EE42-A7FC-43B8A7139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0" y="1097280"/>
            <a:ext cx="10291209" cy="477288"/>
          </a:xfrm>
        </p:spPr>
        <p:txBody>
          <a:bodyPr/>
          <a:lstStyle/>
          <a:p>
            <a:r>
              <a:rPr lang="en-US" dirty="0"/>
              <a:t>Thank You Sponsors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4FA4-651E-0645-9165-939E6BDC4D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A8079E5-6320-C240-0464-181F70241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CF6B7964-2854-746D-8C76-35F0941D10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7420" y="2057400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8DE4A58-A395-A17D-B418-96863937F1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995755" y="2057400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1A48708-15EC-4BEC-3B53-73B4B11684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84090" y="2057400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C9028E81-C175-A204-6B01-E2F313B5E1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972425" y="2057400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68041D4A-709B-93D1-EB89-4F790E3DD7C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7420" y="3408468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CFCCEB0C-9801-0CAA-3961-B3F8D40AD54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995755" y="3408468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3E0E43C-A112-6365-27EF-324A6D967B9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484090" y="3408468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0410AA93-91EE-9C7C-7277-A49BF373C1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72425" y="3408468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60C61F6-BB71-7F90-6E1C-D739CF90788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7420" y="4802926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B11246D-AAF1-8973-D130-6F3313F5F69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995755" y="4802926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3CF73AE-B216-8F61-8C4B-AFA512B0E7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484090" y="4802926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BC0A622-82B8-A87B-117E-B385EDC79E6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972425" y="4802926"/>
            <a:ext cx="2294373" cy="112709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Picture 3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3217CB9B-058C-AB40-13EC-B2063290C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7" name="Picture 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5BBF355B-2001-40D6-68CA-41D2CEA66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0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CD67E3-9E32-94AF-6006-CD9E4ACFD212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6444" y="1046296"/>
            <a:ext cx="7896036" cy="555302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Thank You to Our Sponsor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B6C233-3C8D-B348-B4B1-A1FFAC2449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99A6FF21-CD8A-F687-E9D9-4A992FDB2B1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7420" y="1788168"/>
            <a:ext cx="3902664" cy="390266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Sponsor Logo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62493F-1B2A-E3E5-731F-295C00C5E279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9A06DFE-FAF1-41AD-5189-410896CD9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0" name="Picture 19" descr="A group of colored crosses&#10;&#10;Description automatically generated">
            <a:extLst>
              <a:ext uri="{FF2B5EF4-FFF2-40B4-BE49-F238E27FC236}">
                <a16:creationId xmlns:a16="http://schemas.microsoft.com/office/drawing/2014/main" id="{3C92CF9B-6BB9-A921-C1C4-701309BB7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029B7089-8C52-9FB6-40B6-DDD87523A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6" name="Picture 5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563AC62F-43D0-7B6B-45BC-27AB7FFAA2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5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8BB64-51E7-3F5A-7760-2E340A9A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40E488C-C5A2-94CE-EB16-0D794C6B4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71AA36D4-813C-EE90-E11B-8494BE39A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09" y="-205242"/>
            <a:ext cx="2658772" cy="2554096"/>
          </a:xfrm>
          <a:prstGeom prst="rect">
            <a:avLst/>
          </a:prstGeom>
        </p:spPr>
      </p:pic>
      <p:pic>
        <p:nvPicPr>
          <p:cNvPr id="12" name="Picture 11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27F597AB-8059-A716-ECAE-C5D6FFED02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279" y="664266"/>
            <a:ext cx="1637739" cy="117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19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420" y="714384"/>
            <a:ext cx="8758500" cy="1783443"/>
          </a:xfrm>
        </p:spPr>
        <p:txBody>
          <a:bodyPr wrap="square" anchor="ctr" anchorCtr="0"/>
          <a:lstStyle>
            <a:lvl1pPr>
              <a:lnSpc>
                <a:spcPct val="100000"/>
              </a:lnSpc>
              <a:defRPr sz="3600" b="0" i="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1EBB1-6778-A844-B9B4-3D7DB8F9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9939E56-E699-2D18-E4C4-CB5718B80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9" name="Picture 18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D55B3DBD-6E1B-AD0C-184E-518ED47484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20" name="Picture 19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6DA32DEF-FFCC-5F67-9B7A-6A2252BDF5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9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656" y="2339984"/>
            <a:ext cx="4187371" cy="1783443"/>
          </a:xfrm>
        </p:spPr>
        <p:txBody>
          <a:bodyPr wrap="square" anchor="ctr" anchorCtr="0"/>
          <a:lstStyle>
            <a:lvl1pPr>
              <a:lnSpc>
                <a:spcPct val="100000"/>
              </a:lnSpc>
              <a:defRPr sz="3600" b="0" i="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1EBB1-6778-A844-B9B4-3D7DB8F9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77DB3F-73AD-7609-95D8-88222CB9B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4" name="Picture 13" descr="A heart with lines on it&#10;&#10;Description automatically generated">
            <a:extLst>
              <a:ext uri="{FF2B5EF4-FFF2-40B4-BE49-F238E27FC236}">
                <a16:creationId xmlns:a16="http://schemas.microsoft.com/office/drawing/2014/main" id="{7E4A091A-611F-3AFF-A938-C52FA0106B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702" y="4407043"/>
            <a:ext cx="2412539" cy="2317557"/>
          </a:xfrm>
          <a:prstGeom prst="rect">
            <a:avLst/>
          </a:prstGeom>
        </p:spPr>
      </p:pic>
      <p:pic>
        <p:nvPicPr>
          <p:cNvPr id="11" name="Picture 10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95A57EBC-FD34-E8BA-C859-E4160C5BC7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630" y="4806810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656" y="2339984"/>
            <a:ext cx="4187371" cy="1783443"/>
          </a:xfrm>
        </p:spPr>
        <p:txBody>
          <a:bodyPr wrap="square" anchor="ctr" anchorCtr="0"/>
          <a:lstStyle>
            <a:lvl1pPr>
              <a:lnSpc>
                <a:spcPct val="100000"/>
              </a:lnSpc>
              <a:defRPr sz="3600" b="0" i="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1EBB1-6778-A844-B9B4-3D7DB8F9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A1E6F27-8901-C288-8C73-3D0909FAB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group of colored crosses&#10;&#10;Description automatically generated">
            <a:extLst>
              <a:ext uri="{FF2B5EF4-FFF2-40B4-BE49-F238E27FC236}">
                <a16:creationId xmlns:a16="http://schemas.microsoft.com/office/drawing/2014/main" id="{32951A32-7A91-3561-F536-D51E287E1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9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o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square"/>
          <a:lstStyle>
            <a:lvl1pPr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EE182-E07C-C44F-AD0D-74C5DD3A8F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6301" y="2278265"/>
            <a:ext cx="10579608" cy="3686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A44118-CF77-3548-974F-761F382872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109" y="1822615"/>
            <a:ext cx="10591800" cy="518337"/>
          </a:xfrm>
        </p:spPr>
        <p:txBody>
          <a:bodyPr>
            <a:normAutofit/>
          </a:bodyPr>
          <a:lstStyle>
            <a:lvl1pPr marL="0" indent="0">
              <a:buNone/>
              <a:defRPr lang="en-US" sz="1600" b="1" kern="1200" spc="5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latinLnBrk="0" hangingPunct="1">
              <a:defRPr/>
            </a:pPr>
            <a:r>
              <a:rPr lang="en-US" dirty="0"/>
              <a:t>SUBHEAD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27ABA-72B3-7344-923A-19853DC9D1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101F584-96CA-9119-1F15-01E684233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yellow and green cross&#10;&#10;Description automatically generated">
            <a:extLst>
              <a:ext uri="{FF2B5EF4-FFF2-40B4-BE49-F238E27FC236}">
                <a16:creationId xmlns:a16="http://schemas.microsoft.com/office/drawing/2014/main" id="{E3E71749-82CF-FA3A-4400-A8E2BC3C07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518" y="4171028"/>
            <a:ext cx="2292785" cy="2202518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A26FF0F2-8ACA-BF40-D1A3-1287AFB7C1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280" y="3827992"/>
            <a:ext cx="1655642" cy="119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1EBB1-6778-A844-B9B4-3D7DB8F9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43D3EB-C06C-9EF4-E619-DF9EFC613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10" y="1088044"/>
            <a:ext cx="10591800" cy="999994"/>
          </a:xfrm>
        </p:spPr>
        <p:txBody>
          <a:bodyPr wrap="square"/>
          <a:lstStyle>
            <a:lvl1pPr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F654CC-2A23-7BAD-9C0E-622AFFAA9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6301" y="2278265"/>
            <a:ext cx="10579608" cy="3686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3FB2EE-BCF9-A69B-D7F3-543E8E5160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109" y="1822615"/>
            <a:ext cx="10591800" cy="518337"/>
          </a:xfrm>
        </p:spPr>
        <p:txBody>
          <a:bodyPr>
            <a:normAutofit/>
          </a:bodyPr>
          <a:lstStyle>
            <a:lvl1pPr marL="0" indent="0">
              <a:buNone/>
              <a:defRPr lang="en-US" sz="1600" b="1" kern="1200" spc="5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latinLnBrk="0" hangingPunct="1">
              <a:defRPr/>
            </a:pPr>
            <a:r>
              <a:rPr lang="en-US" dirty="0"/>
              <a:t>SUBHEAD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C27D45A-3BB6-E927-40A4-0EF3D6F7F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4" name="Picture 13" descr="A group of colored crosses&#10;&#10;Description automatically generated">
            <a:extLst>
              <a:ext uri="{FF2B5EF4-FFF2-40B4-BE49-F238E27FC236}">
                <a16:creationId xmlns:a16="http://schemas.microsoft.com/office/drawing/2014/main" id="{E0F4788E-F8EC-52A0-7911-FE2471DB70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4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E57F7-3FE9-934C-8A0C-63C1B60D73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B802-5F28-E54B-A357-2309EB84EA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5128" y="1799844"/>
            <a:ext cx="10591800" cy="42108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C12E4-38D4-BB4F-9A40-C1DD9A9562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08C5C31-6F0A-9C5A-1268-CC76E4D38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heart with lines on it&#10;&#10;Description automatically generated">
            <a:extLst>
              <a:ext uri="{FF2B5EF4-FFF2-40B4-BE49-F238E27FC236}">
                <a16:creationId xmlns:a16="http://schemas.microsoft.com/office/drawing/2014/main" id="{1B85E347-7A66-7E2B-0227-DBD4303192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702" y="4407043"/>
            <a:ext cx="2412539" cy="2317557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B4ACF86C-1DEE-2E70-3EFD-74565FC7A8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630" y="4806810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09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ank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2D2E07C-6098-C35E-BA33-B06C59AD43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8F0FEB-2E92-E341-B803-630068E4B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4" name="Picture 13" descr="A yellow and green cross&#10;&#10;Description automatically generated">
            <a:extLst>
              <a:ext uri="{FF2B5EF4-FFF2-40B4-BE49-F238E27FC236}">
                <a16:creationId xmlns:a16="http://schemas.microsoft.com/office/drawing/2014/main" id="{348C9F99-168F-4DEC-7B52-802B5C3AA6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15" name="Picture 14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F0B3EDCC-7B93-0883-CD63-EE8519497D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02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lank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5129D3C-5DFF-AA0E-F123-034D0A46DD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303832-614E-95DA-3398-5438957B6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" name="Picture 12" descr="A yellow and green cross&#10;&#10;Description automatically generated">
            <a:extLst>
              <a:ext uri="{FF2B5EF4-FFF2-40B4-BE49-F238E27FC236}">
                <a16:creationId xmlns:a16="http://schemas.microsoft.com/office/drawing/2014/main" id="{000DC17E-570B-D8CB-6A01-D081748318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14" name="Picture 13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2B987472-3011-45AD-326B-936F8BE6B8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81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0EF0-DDAE-1B43-B818-5E0AD2AD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3ADE5-EFAB-EC4F-83AB-27A484D3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3" name="Picture 2" descr="A group of colored crosses&#10;&#10;Description automatically generated">
            <a:extLst>
              <a:ext uri="{FF2B5EF4-FFF2-40B4-BE49-F238E27FC236}">
                <a16:creationId xmlns:a16="http://schemas.microsoft.com/office/drawing/2014/main" id="{8E3827EE-E11D-812C-202F-F221129F7B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966" y="56706"/>
            <a:ext cx="1878154" cy="1804211"/>
          </a:xfrm>
          <a:prstGeom prst="rect">
            <a:avLst/>
          </a:prstGeom>
        </p:spPr>
      </p:pic>
      <p:pic>
        <p:nvPicPr>
          <p:cNvPr id="11" name="Picture 10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790552C2-8E36-2155-4C94-476BE49BAB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8886791-F8EB-D87C-C19F-2771F3920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893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0EF0-DDAE-1B43-B818-5E0AD2AD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3ADE5-EFAB-EC4F-83AB-27A484D3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5" name="Picture 4" descr="A group of colored crosses&#10;&#10;Description automatically generated">
            <a:extLst>
              <a:ext uri="{FF2B5EF4-FFF2-40B4-BE49-F238E27FC236}">
                <a16:creationId xmlns:a16="http://schemas.microsoft.com/office/drawing/2014/main" id="{49DFC12B-A4DD-4C28-8E4C-67BEA9F1F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966" y="56706"/>
            <a:ext cx="1878154" cy="1804211"/>
          </a:xfrm>
          <a:prstGeom prst="rect">
            <a:avLst/>
          </a:prstGeom>
        </p:spPr>
      </p:pic>
      <p:pic>
        <p:nvPicPr>
          <p:cNvPr id="9" name="Picture 8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B3B96116-EE71-9F4A-BB71-E28A60344D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82C4865-484D-CD28-EA91-43F88BC99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527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isu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DC1CD14E-4A4D-B744-99A0-27C09CA41F71}"/>
              </a:ext>
            </a:extLst>
          </p:cNvPr>
          <p:cNvSpPr/>
          <p:nvPr userDrawn="1"/>
        </p:nvSpPr>
        <p:spPr>
          <a:xfrm>
            <a:off x="-370703" y="985696"/>
            <a:ext cx="4795509" cy="479550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0A273-8AC7-6242-B3C1-7236D468CE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585" y="2377440"/>
            <a:ext cx="3103879" cy="210312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638843-29CA-E043-BC03-29110CD359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3752" y="1447800"/>
            <a:ext cx="5334000" cy="4087813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3C98F-8532-DC40-8CCD-50DB698E35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B292185-45BA-D308-64B0-8B02CF90F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group of colored crosses&#10;&#10;Description automatically generated">
            <a:extLst>
              <a:ext uri="{FF2B5EF4-FFF2-40B4-BE49-F238E27FC236}">
                <a16:creationId xmlns:a16="http://schemas.microsoft.com/office/drawing/2014/main" id="{EB838B33-EFD5-468A-6514-8529123612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17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isu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61874-19C1-E54C-8156-74C650C810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7420" y="2378075"/>
            <a:ext cx="4983163" cy="34131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A2F00-5CC0-EE42-A7FC-43B8A713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421" y="1097280"/>
            <a:ext cx="4132384" cy="14466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4FA4-651E-0645-9165-939E6BDC4D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9E5534A-D5FE-9440-AE5B-B141C578A7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9398" y="1432831"/>
            <a:ext cx="5687367" cy="432487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7A1991C-0C46-E439-4B47-F9B1713B0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6BB59794-F143-BCFE-5A6D-F547F43BDC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5C655FFB-A63F-DAA9-7BC8-324018BAA9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32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isu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7074639" y="0"/>
            <a:ext cx="5117361" cy="6858000"/>
          </a:xfrm>
          <a:custGeom>
            <a:avLst/>
            <a:gdLst>
              <a:gd name="connsiteX0" fmla="*/ 1551265 w 5117361"/>
              <a:gd name="connsiteY0" fmla="*/ 0 h 6858000"/>
              <a:gd name="connsiteX1" fmla="*/ 5117361 w 5117361"/>
              <a:gd name="connsiteY1" fmla="*/ 0 h 6858000"/>
              <a:gd name="connsiteX2" fmla="*/ 5117361 w 5117361"/>
              <a:gd name="connsiteY2" fmla="*/ 6858000 h 6858000"/>
              <a:gd name="connsiteX3" fmla="*/ 1551265 w 5117361"/>
              <a:gd name="connsiteY3" fmla="*/ 6858000 h 6858000"/>
              <a:gd name="connsiteX4" fmla="*/ 1496804 w 5117361"/>
              <a:gd name="connsiteY4" fmla="*/ 6810825 h 6858000"/>
              <a:gd name="connsiteX5" fmla="*/ 0 w 5117361"/>
              <a:gd name="connsiteY5" fmla="*/ 3429000 h 6858000"/>
              <a:gd name="connsiteX6" fmla="*/ 1496804 w 5117361"/>
              <a:gd name="connsiteY6" fmla="*/ 471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17361" h="6858000">
                <a:moveTo>
                  <a:pt x="1551265" y="0"/>
                </a:moveTo>
                <a:lnTo>
                  <a:pt x="5117361" y="0"/>
                </a:lnTo>
                <a:lnTo>
                  <a:pt x="5117361" y="6858000"/>
                </a:lnTo>
                <a:lnTo>
                  <a:pt x="1551265" y="6858000"/>
                </a:lnTo>
                <a:lnTo>
                  <a:pt x="1496804" y="6810825"/>
                </a:lnTo>
                <a:cubicBezTo>
                  <a:pt x="577286" y="5975085"/>
                  <a:pt x="0" y="4769459"/>
                  <a:pt x="0" y="3429000"/>
                </a:cubicBezTo>
                <a:cubicBezTo>
                  <a:pt x="0" y="2088542"/>
                  <a:pt x="577286" y="882916"/>
                  <a:pt x="1496804" y="47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8049AB-719B-7948-8C38-9F09EAF52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635" y="1097280"/>
            <a:ext cx="4314709" cy="11582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1541DB-45E7-874B-97E3-A4965FD1D8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5632" y="2279650"/>
            <a:ext cx="5257800" cy="36941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E98540-1EE3-414A-9049-A95D31F44C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830E18A-3AA1-7C25-7B08-CFBAA6B2C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Picture 17" descr="A yellow and green cross&#10;&#10;Description automatically generated">
            <a:extLst>
              <a:ext uri="{FF2B5EF4-FFF2-40B4-BE49-F238E27FC236}">
                <a16:creationId xmlns:a16="http://schemas.microsoft.com/office/drawing/2014/main" id="{0F1EB88F-9D63-593A-1B76-E906AE488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787" y="91227"/>
            <a:ext cx="1810897" cy="1739602"/>
          </a:xfrm>
          <a:prstGeom prst="rect">
            <a:avLst/>
          </a:prstGeom>
        </p:spPr>
      </p:pic>
      <p:pic>
        <p:nvPicPr>
          <p:cNvPr id="19" name="Picture 18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C7A67A5C-ED3C-B16B-51A6-1E1B862BF5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47" y="463774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740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960080" y="-859476"/>
            <a:ext cx="8212776" cy="821277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0A4017-436B-6730-9213-DACE2D7D473D}"/>
              </a:ext>
            </a:extLst>
          </p:cNvPr>
          <p:cNvSpPr/>
          <p:nvPr userDrawn="1"/>
        </p:nvSpPr>
        <p:spPr>
          <a:xfrm>
            <a:off x="0" y="-428263"/>
            <a:ext cx="12192000" cy="923366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03B501-B84F-DB4D-9CF5-2272D4FC2E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BDE3BB-DF97-8415-BE9F-D60D85959AF0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C997C538-713F-182B-D111-7F9B41BA9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128" y="6213614"/>
            <a:ext cx="1611744" cy="517739"/>
          </a:xfrm>
          <a:prstGeom prst="rect">
            <a:avLst/>
          </a:prstGeom>
        </p:spPr>
      </p:pic>
      <p:pic>
        <p:nvPicPr>
          <p:cNvPr id="13" name="Picture 1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50B12A9D-12FB-75B0-2B2D-530AF9F392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6" y="6075747"/>
            <a:ext cx="3660797" cy="8146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04AD0E2-C135-6206-DCD6-242B0C82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yellow and green cross&#10;&#10;Description automatically generated">
            <a:extLst>
              <a:ext uri="{FF2B5EF4-FFF2-40B4-BE49-F238E27FC236}">
                <a16:creationId xmlns:a16="http://schemas.microsoft.com/office/drawing/2014/main" id="{735993A4-227B-EE03-3E12-FCB2AD4D43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19F1D6F1-DEB8-BBB7-8CC2-0A6AC909E55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30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535128" y="1447800"/>
            <a:ext cx="4126316" cy="412631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C3CFC-0E83-3C43-83DC-68BCFDA6DE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3558" y="1607835"/>
            <a:ext cx="5334000" cy="40767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48C08F-41CC-6242-8AB7-D4B15AE72A1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F8ECE68-C1A3-C1B0-83CE-5CC0D92FB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Picture 14" descr="A group of colored crosses&#10;&#10;Description automatically generated">
            <a:extLst>
              <a:ext uri="{FF2B5EF4-FFF2-40B4-BE49-F238E27FC236}">
                <a16:creationId xmlns:a16="http://schemas.microsoft.com/office/drawing/2014/main" id="{67A293B8-F0CF-3037-3CCD-32477299B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00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ircl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755598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057059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358520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659980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BFB0C-9597-DC41-B824-36FF9F1216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DC576FE-5D30-2F3C-0E18-6003EACDE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Picture 17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78F8FD80-35C0-9381-F308-4811C35C8E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9" name="Picture 18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F505065F-3030-4522-A665-CEB5B07ED2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475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Circl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755598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057059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358520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659980" y="2818757"/>
            <a:ext cx="1708219" cy="170821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BFB0C-9597-DC41-B824-36FF9F1216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45604BE-3A69-5D98-5FEB-C2B44D044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266FCD53-6700-C2E3-44BA-425BEDE62F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6A096CA2-83C4-4680-1572-224EB25E04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45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1236267" y="1386845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542145" y="1386845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5848023" y="1386845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8153901" y="1386845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1236267" y="3559364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542145" y="3559364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5848023" y="3559364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8153901" y="3559364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78804E-5FBD-7F4D-8634-437E25FA042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D4CC132-7091-9E66-EE48-9FC6C3D97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1" name="Picture 20" descr="A group of colored crosses&#10;&#10;Description automatically generated">
            <a:extLst>
              <a:ext uri="{FF2B5EF4-FFF2-40B4-BE49-F238E27FC236}">
                <a16:creationId xmlns:a16="http://schemas.microsoft.com/office/drawing/2014/main" id="{59A78DAA-8ABC-08F1-BDD9-2598CA85C4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48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ircl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96572" y="2127746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736930" y="2127746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7877287" y="2127746"/>
            <a:ext cx="2638602" cy="263860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5CD6A-95A4-9D48-BDD2-6029B6C23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E6B43-6192-134D-A5F7-6D5348DCFF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3D2EAF5-31B6-58B4-85DC-C305E58F4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9" name="Picture 18" descr="A yellow and green cross&#10;&#10;Description automatically generated">
            <a:extLst>
              <a:ext uri="{FF2B5EF4-FFF2-40B4-BE49-F238E27FC236}">
                <a16:creationId xmlns:a16="http://schemas.microsoft.com/office/drawing/2014/main" id="{DE04AA74-8605-F6E2-FFAF-6BC5112F63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20" name="Picture 19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7B84DCF7-3A53-CD9C-1F3A-8D3163643C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55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32" y="2230840"/>
            <a:ext cx="4187371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0" y="689634"/>
            <a:ext cx="1722783" cy="1722781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2498209"/>
            <a:ext cx="1722783" cy="1722781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096000" y="4315001"/>
            <a:ext cx="1722783" cy="1722781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E3540-9183-704E-B459-77101CB2455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AC37F9C-CE44-5079-523C-56D521ED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747D474F-2D5B-0603-FF2F-7AC557DA9D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D504834A-B95E-7086-40E0-231B1C3DE8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3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7420" y="2399905"/>
            <a:ext cx="2222106" cy="222210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268111" y="1447800"/>
            <a:ext cx="4126316" cy="412631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DB7DF7-299E-C64F-B0F3-05CD26BBB0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36C611B-BAD7-CD85-A754-015C6C5B25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2677" y="2399905"/>
            <a:ext cx="2222106" cy="222210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6AB76B7-1806-1103-4BFC-FD202D566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BE14521C-85D7-95C0-09B3-0495DB064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6BE41262-BF7B-FFEC-1272-2E6FEFD298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225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618283" y="1244587"/>
            <a:ext cx="4126316" cy="412631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960364" y="839820"/>
            <a:ext cx="2305879" cy="230587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161288" y="3651781"/>
            <a:ext cx="2305879" cy="230587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1245E-6AC4-AC4A-8FDC-CDD64337F2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ACD08CF-537F-15BA-00F2-B91C1CC00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 descr="A yellow and green cross&#10;&#10;Description automatically generated">
            <a:extLst>
              <a:ext uri="{FF2B5EF4-FFF2-40B4-BE49-F238E27FC236}">
                <a16:creationId xmlns:a16="http://schemas.microsoft.com/office/drawing/2014/main" id="{6EC786CA-8B53-51C0-914A-B3D24D44DE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14" name="Picture 13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543ADC0E-216E-B952-95E0-4770679E2F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198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9E7FC90-A41C-398B-CA58-201FBF84B6FC}"/>
              </a:ext>
            </a:extLst>
          </p:cNvPr>
          <p:cNvSpPr/>
          <p:nvPr userDrawn="1"/>
        </p:nvSpPr>
        <p:spPr>
          <a:xfrm>
            <a:off x="0" y="-1"/>
            <a:ext cx="12192000" cy="7106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25892" y="2316850"/>
            <a:ext cx="3296920" cy="1783443"/>
          </a:xfrm>
        </p:spPr>
        <p:txBody>
          <a:bodyPr wrap="square" anchor="ctr" anchorCtr="0"/>
          <a:lstStyle>
            <a:lvl1pPr>
              <a:lnSpc>
                <a:spcPct val="100000"/>
              </a:lnSpc>
              <a:defRPr sz="3600" b="0" i="0" spc="0">
                <a:solidFill>
                  <a:schemeClr val="bg1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49844E0-98A1-1D44-87EC-127C1B229E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7616" y="1447800"/>
            <a:ext cx="4000363" cy="3923535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B5367EDA-654E-B609-B470-C1DC5A5431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7237" y="1467232"/>
            <a:ext cx="4000363" cy="3923535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485449-2D56-1313-D31A-1B11172D8E86}"/>
              </a:ext>
            </a:extLst>
          </p:cNvPr>
          <p:cNvSpPr/>
          <p:nvPr userDrawn="1"/>
        </p:nvSpPr>
        <p:spPr>
          <a:xfrm>
            <a:off x="-279399" y="-279107"/>
            <a:ext cx="12683740" cy="70614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B9A4C8-374F-32A2-66D7-65925CAB3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7420" y="91227"/>
            <a:ext cx="10570781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BDFA080-3856-96F7-9AE5-3739F0906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" name="Picture 12" descr="A group of colored crosses&#10;&#10;Description automatically generated">
            <a:extLst>
              <a:ext uri="{FF2B5EF4-FFF2-40B4-BE49-F238E27FC236}">
                <a16:creationId xmlns:a16="http://schemas.microsoft.com/office/drawing/2014/main" id="{716F01BF-1C55-9612-65F5-D486414735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132935" y="459487"/>
            <a:ext cx="1648414" cy="1583516"/>
          </a:xfrm>
          <a:prstGeom prst="rect">
            <a:avLst/>
          </a:prstGeom>
        </p:spPr>
      </p:pic>
      <p:pic>
        <p:nvPicPr>
          <p:cNvPr id="2" name="Picture 1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AD9BA29A-B54C-5849-005C-5CB076ED22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6" name="Picture 5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66F32AD5-F6E3-7BCA-3FB4-DBD0E002E1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30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CD67E3-9E32-94AF-6006-CD9E4ACFD212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6444" y="2340565"/>
            <a:ext cx="3784600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4466283" y="1453106"/>
            <a:ext cx="3522017" cy="3522017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B6C233-3C8D-B348-B4B1-A1FFAC2449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8153539" y="1453106"/>
            <a:ext cx="3522017" cy="3522017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1269C-7A49-5123-27A5-8C2495AF6F89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9CAC14A-AED5-318E-5D8F-A9922A063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" name="Picture 12" descr="A group of colored crosses&#10;&#10;Description automatically generated">
            <a:extLst>
              <a:ext uri="{FF2B5EF4-FFF2-40B4-BE49-F238E27FC236}">
                <a16:creationId xmlns:a16="http://schemas.microsoft.com/office/drawing/2014/main" id="{9C869084-5A66-5F99-FDF6-197059AF0B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C033A133-CCBA-A74A-3A03-9BC0AFFF92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D5729B0D-2A36-EF22-48BD-F1786CDB17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0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3CCAAB-E760-772B-6AD6-6B4F274545D5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DB743-ABEB-6F4E-B6FC-5241C063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0" y="2821731"/>
            <a:ext cx="10591800" cy="999994"/>
          </a:xfrm>
        </p:spPr>
        <p:txBody>
          <a:bodyPr/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DE9F9-735B-064C-9233-5920BAC157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7537AE-7623-7938-8CC8-C8D83472821E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076B4E5-ABB9-3DE8-ED19-4DCE6960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7BB46EC6-3539-CB77-5AC7-098EAC5C8E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88C1D6DB-FC41-E460-52C1-2E583C78BF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  <p:pic>
        <p:nvPicPr>
          <p:cNvPr id="4" name="Picture 3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0B10BD6A-CF46-1459-BB5D-56166245B7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F19C3C45-0B74-5BC8-E9DA-ADB8C87DD0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772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5 Custom Layout">
    <p:bg>
      <p:bgPr>
        <a:solidFill>
          <a:srgbClr val="1E22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A28822-4A94-1CB7-7436-1341A412E384}"/>
              </a:ext>
            </a:extLst>
          </p:cNvPr>
          <p:cNvSpPr/>
          <p:nvPr userDrawn="1"/>
        </p:nvSpPr>
        <p:spPr>
          <a:xfrm>
            <a:off x="0" y="-1"/>
            <a:ext cx="12192000" cy="6953459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3CCAAB-E760-772B-6AD6-6B4F274545D5}"/>
              </a:ext>
            </a:extLst>
          </p:cNvPr>
          <p:cNvSpPr/>
          <p:nvPr userDrawn="1"/>
        </p:nvSpPr>
        <p:spPr>
          <a:xfrm>
            <a:off x="-215899" y="-478113"/>
            <a:ext cx="12620240" cy="905151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DB743-ABEB-6F4E-B6FC-5241C063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0" y="2821731"/>
            <a:ext cx="10591800" cy="999994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DE9F9-735B-064C-9233-5920BAC157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E4B6A2-6A56-5D7A-94E1-4072C7E3D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Picture 14" descr="A group of colored crosses&#10;&#10;Description automatically generated">
            <a:extLst>
              <a:ext uri="{FF2B5EF4-FFF2-40B4-BE49-F238E27FC236}">
                <a16:creationId xmlns:a16="http://schemas.microsoft.com/office/drawing/2014/main" id="{6320C469-5F06-B1EF-8C3F-46E83BBF4F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  <p:pic>
        <p:nvPicPr>
          <p:cNvPr id="5" name="Picture 4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D8FB473A-9227-85A7-C136-665A39F0A8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6" name="Picture 5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897569A2-8E95-CA43-471C-4486730FCC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289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5 Custom Layout">
    <p:bg>
      <p:bgPr>
        <a:solidFill>
          <a:srgbClr val="3CD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3CCAAB-E760-772B-6AD6-6B4F274545D5}"/>
              </a:ext>
            </a:extLst>
          </p:cNvPr>
          <p:cNvSpPr/>
          <p:nvPr userDrawn="1"/>
        </p:nvSpPr>
        <p:spPr>
          <a:xfrm>
            <a:off x="0" y="-106479"/>
            <a:ext cx="12192000" cy="533517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DB743-ABEB-6F4E-B6FC-5241C063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0" y="2821731"/>
            <a:ext cx="10591800" cy="999994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DE9F9-735B-064C-9233-5920BAC157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97DC9-E436-F2ED-1BD2-0D8197340081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16240C5-AB14-2DB9-6DF3-1ACA1773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0" name="Picture 19" descr="A black and white circle with white lines&#10;&#10;Description automatically generated">
            <a:extLst>
              <a:ext uri="{FF2B5EF4-FFF2-40B4-BE49-F238E27FC236}">
                <a16:creationId xmlns:a16="http://schemas.microsoft.com/office/drawing/2014/main" id="{3C8666FF-DCAA-1D40-AD0E-40B5F2BB9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905" y="-106479"/>
            <a:ext cx="2184515" cy="2184515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7A5376B0-E4C7-33FA-68AA-FDE3C9CD9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pic>
        <p:nvPicPr>
          <p:cNvPr id="4" name="Picture 3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A8179AFD-CF05-7787-7FC9-4CE41B081B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8B99F266-64BC-9198-108D-FB614ECF030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457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ustom Layout">
    <p:bg>
      <p:bgPr>
        <a:solidFill>
          <a:srgbClr val="3CD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E5DD1C4-DFB4-34AC-64ED-EFDCF4DD1F6C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495300" y="1447800"/>
            <a:ext cx="3429264" cy="342926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Oval 5"/>
          <p:cNvSpPr/>
          <p:nvPr userDrawn="1"/>
        </p:nvSpPr>
        <p:spPr>
          <a:xfrm>
            <a:off x="4132316" y="1456553"/>
            <a:ext cx="3431248" cy="3431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rometo Medium" panose="020B0704030203060203" pitchFamily="34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351344" y="2757023"/>
            <a:ext cx="3006236" cy="80703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800" b="0" i="1" u="none">
                <a:solidFill>
                  <a:srgbClr val="1E22AA"/>
                </a:solidFill>
                <a:latin typeface="Prometo Medium" panose="020B0704030203060203" pitchFamily="34" charset="0"/>
                <a:ea typeface="Prometo Medium" panose="020B0704030203060203" pitchFamily="34" charset="0"/>
                <a:cs typeface="Prometo Medium" panose="020B070403020306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5604065" y="3564060"/>
            <a:ext cx="4756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0" i="1" dirty="0">
                <a:solidFill>
                  <a:schemeClr val="accent2"/>
                </a:solidFill>
                <a:latin typeface="Prometo Medium" panose="020B0704030203060203" pitchFamily="34" charset="0"/>
              </a:rPr>
              <a:t>“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7053BB-1F93-3F4C-8EB7-1D03DFC395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43944" y="1445552"/>
            <a:ext cx="3504421" cy="343124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1C1BA9-EB81-2B40-9E94-5DDE43D2A1B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0BEFD0-051F-1445-4188-24C7593CBB9A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27DA7BC-1A2D-4ABE-C18F-CE2525AB4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Picture 17" descr="A yellow and green cross&#10;&#10;Description automatically generated">
            <a:extLst>
              <a:ext uri="{FF2B5EF4-FFF2-40B4-BE49-F238E27FC236}">
                <a16:creationId xmlns:a16="http://schemas.microsoft.com/office/drawing/2014/main" id="{168895BE-8B20-7FD9-A9B6-FD818CC1E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20" name="Picture 19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BE901AA7-88F6-159E-9ED6-804914707C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B5E31FF7-E6C2-F098-BA23-D1EF1A4AC3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5DDB2069-16DD-7EB5-52D8-3A31687B8F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830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rgbClr val="3CD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and white circle with white lines&#10;&#10;Description automatically generated">
            <a:extLst>
              <a:ext uri="{FF2B5EF4-FFF2-40B4-BE49-F238E27FC236}">
                <a16:creationId xmlns:a16="http://schemas.microsoft.com/office/drawing/2014/main" id="{31A68A0E-D02F-05B2-90E2-F921BEC7CA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905" y="-106479"/>
            <a:ext cx="2184515" cy="2184515"/>
          </a:xfrm>
          <a:prstGeom prst="rect">
            <a:avLst/>
          </a:prstGeom>
        </p:spPr>
      </p:pic>
      <p:pic>
        <p:nvPicPr>
          <p:cNvPr id="21" name="Picture 20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C12AE4EA-A1A3-38D2-6887-1D0E4FA873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2017684" y="-846809"/>
            <a:ext cx="8255883" cy="8255883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58452" y="2389412"/>
            <a:ext cx="4187371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60CBC-F232-8892-FC24-98AA735765FD}"/>
              </a:ext>
            </a:extLst>
          </p:cNvPr>
          <p:cNvSpPr/>
          <p:nvPr userDrawn="1"/>
        </p:nvSpPr>
        <p:spPr>
          <a:xfrm>
            <a:off x="0" y="-174152"/>
            <a:ext cx="12192000" cy="601190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3D1906-C08F-3344-8E9A-D0DA1AD254E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29E0A-79A2-33F4-B16E-79B3D331DF84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28D62A3-92D3-4666-7DD0-C5B99E489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CF2918D9-AC50-BD3F-373E-6023F32CD9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C04D12E-125F-DF7F-EA0E-4781A5139D7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24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solidFill>
          <a:srgbClr val="3CD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F20C92E2-93C4-BB7B-0C89-EEC5FED220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6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863437" y="-1683280"/>
            <a:ext cx="9089318" cy="908931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5632" y="2142277"/>
            <a:ext cx="3071367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D31E8-B1EE-B9F5-50C9-E7321592C6F3}"/>
              </a:ext>
            </a:extLst>
          </p:cNvPr>
          <p:cNvSpPr/>
          <p:nvPr userDrawn="1"/>
        </p:nvSpPr>
        <p:spPr>
          <a:xfrm>
            <a:off x="0" y="-137689"/>
            <a:ext cx="12192000" cy="577427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BE134F-2CF3-F64C-AB00-008C9BB3A23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82A87-F5D6-1799-9795-4D2833564816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6728FC-4D8C-0E7D-E87A-078C98FB5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A3E59FF1-FA5E-35A7-CF56-55173BEAD1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9FB2C6DD-A29C-61BC-21F1-90DFB58087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302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9A3E10-D20D-AA14-8D32-3E67D0FE9987}"/>
              </a:ext>
            </a:extLst>
          </p:cNvPr>
          <p:cNvSpPr/>
          <p:nvPr userDrawn="1"/>
        </p:nvSpPr>
        <p:spPr>
          <a:xfrm>
            <a:off x="0" y="-1"/>
            <a:ext cx="12192000" cy="6953459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5AAB71-6CA5-303D-8707-D05B563CA372}"/>
              </a:ext>
            </a:extLst>
          </p:cNvPr>
          <p:cNvSpPr/>
          <p:nvPr userDrawn="1"/>
        </p:nvSpPr>
        <p:spPr>
          <a:xfrm>
            <a:off x="-215899" y="-478113"/>
            <a:ext cx="12620240" cy="905151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E0EED2B8-8066-09D2-4664-918CCA04A9C0}"/>
              </a:ext>
            </a:extLst>
          </p:cNvPr>
          <p:cNvSpPr txBox="1">
            <a:spLocks/>
          </p:cNvSpPr>
          <p:nvPr userDrawn="1"/>
        </p:nvSpPr>
        <p:spPr>
          <a:xfrm>
            <a:off x="507420" y="91227"/>
            <a:ext cx="1057078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1000" b="0" i="0" kern="1200" spc="0" baseline="0">
                <a:solidFill>
                  <a:schemeClr val="accent4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PRESENTATION TITLE (To customize: Insert &gt; Header Footer &gt; Edit Footer Text &gt; Apply to All)</a:t>
            </a:r>
            <a:endParaRPr lang="en-US" dirty="0"/>
          </a:p>
        </p:txBody>
      </p:sp>
      <p:pic>
        <p:nvPicPr>
          <p:cNvPr id="19" name="Picture 18" descr="A group of colored crosses&#10;&#10;Description automatically generated">
            <a:extLst>
              <a:ext uri="{FF2B5EF4-FFF2-40B4-BE49-F238E27FC236}">
                <a16:creationId xmlns:a16="http://schemas.microsoft.com/office/drawing/2014/main" id="{39F16CD9-90BF-F908-6949-09DB96955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5E44A74-7D9A-625E-E3A0-9BD8E71C971B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10111" y="1247636"/>
            <a:ext cx="9781889" cy="5067300"/>
          </a:xfrm>
          <a:custGeom>
            <a:avLst/>
            <a:gdLst>
              <a:gd name="connsiteX0" fmla="*/ 4106744 w 7191504"/>
              <a:gd name="connsiteY0" fmla="*/ 0 h 3429000"/>
              <a:gd name="connsiteX1" fmla="*/ 7058515 w 7191504"/>
              <a:gd name="connsiteY1" fmla="*/ 1222664 h 3429000"/>
              <a:gd name="connsiteX2" fmla="*/ 7191504 w 7191504"/>
              <a:gd name="connsiteY2" fmla="*/ 1368988 h 3429000"/>
              <a:gd name="connsiteX3" fmla="*/ 7191504 w 7191504"/>
              <a:gd name="connsiteY3" fmla="*/ 3429000 h 3429000"/>
              <a:gd name="connsiteX4" fmla="*/ 0 w 7191504"/>
              <a:gd name="connsiteY4" fmla="*/ 3429000 h 3429000"/>
              <a:gd name="connsiteX5" fmla="*/ 17119 w 7191504"/>
              <a:gd name="connsiteY5" fmla="*/ 3333141 h 3429000"/>
              <a:gd name="connsiteX6" fmla="*/ 4106744 w 7191504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91504" h="3429000">
                <a:moveTo>
                  <a:pt x="4106744" y="0"/>
                </a:moveTo>
                <a:cubicBezTo>
                  <a:pt x="5259482" y="0"/>
                  <a:pt x="6303091" y="467240"/>
                  <a:pt x="7058515" y="1222664"/>
                </a:cubicBezTo>
                <a:lnTo>
                  <a:pt x="7191504" y="1368988"/>
                </a:lnTo>
                <a:lnTo>
                  <a:pt x="7191504" y="3429000"/>
                </a:lnTo>
                <a:lnTo>
                  <a:pt x="0" y="3429000"/>
                </a:lnTo>
                <a:lnTo>
                  <a:pt x="17119" y="3333141"/>
                </a:lnTo>
                <a:cubicBezTo>
                  <a:pt x="406370" y="1430921"/>
                  <a:pt x="2089452" y="0"/>
                  <a:pt x="410674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128" y="2057400"/>
            <a:ext cx="4187371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155F-7E34-DD49-8B26-19F0621382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56FEC-CCEF-8D89-A51A-D58E11E6F07E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5FA119A-9D5B-56AF-F0F1-ED4258EA1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CBAB261B-5C49-D1FF-1D19-66F66FBBE3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6" name="Picture 5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ABFD59CC-376D-C561-DED3-FCFEC90F17F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948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0414E-C7F3-B205-181D-458FF372E4AB}"/>
              </a:ext>
            </a:extLst>
          </p:cNvPr>
          <p:cNvSpPr/>
          <p:nvPr userDrawn="1"/>
        </p:nvSpPr>
        <p:spPr>
          <a:xfrm>
            <a:off x="0" y="0"/>
            <a:ext cx="12192000" cy="427038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0" y="427038"/>
            <a:ext cx="12192000" cy="643096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7BEA9-BFCA-7D4C-911D-F8C6A7B517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2B222D1-136F-D9F3-A1B4-2230DB031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BA464083-6717-5EAC-39E9-616CB47535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7" name="Picture 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9CBB5E38-2DB3-E081-B28B-10E2BBB796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98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057207" y="436688"/>
            <a:ext cx="6134793" cy="640164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-1" y="436688"/>
            <a:ext cx="6134793" cy="640164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A8A1D4-CDD9-4E43-9E1D-0FCCCEEB98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4" name="Picture 3" descr="A group of colored crosses&#10;&#10;Description automatically generated">
            <a:extLst>
              <a:ext uri="{FF2B5EF4-FFF2-40B4-BE49-F238E27FC236}">
                <a16:creationId xmlns:a16="http://schemas.microsoft.com/office/drawing/2014/main" id="{78483F88-B341-C453-9ADE-8B55D46293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966" y="128199"/>
            <a:ext cx="1878154" cy="1804211"/>
          </a:xfrm>
          <a:prstGeom prst="rect">
            <a:avLst/>
          </a:prstGeom>
        </p:spPr>
      </p:pic>
      <p:pic>
        <p:nvPicPr>
          <p:cNvPr id="7" name="Picture 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4F9FEB3A-781A-2E27-DC4F-9953811992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602940"/>
            <a:ext cx="1272886" cy="91635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EE6A53A-8663-DE0F-3036-57D2D6FAF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3721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75443" y="-1151684"/>
            <a:ext cx="5359399" cy="91613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728" y="2330279"/>
            <a:ext cx="3847216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117875" y="1133700"/>
            <a:ext cx="1915373" cy="3962400"/>
          </a:xfrm>
          <a:prstGeom prst="roundRect">
            <a:avLst>
              <a:gd name="adj" fmla="val 11979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AC65B-910B-BC4D-BDF5-63469AFEDB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C1F43-0198-EB10-B340-C175B1F1A23B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CBB6E80-42A6-E8DD-E97C-DA69C2032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group of colored crosses&#10;&#10;Description automatically generated">
            <a:extLst>
              <a:ext uri="{FF2B5EF4-FFF2-40B4-BE49-F238E27FC236}">
                <a16:creationId xmlns:a16="http://schemas.microsoft.com/office/drawing/2014/main" id="{9FB523AD-F304-A4D9-2D73-5CBD486A4D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07060" y="502957"/>
            <a:ext cx="2367526" cy="2274316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2D82BED9-9C7E-ED3F-7740-08AF573A16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8D6BD1EC-DF2B-A2E8-36EC-CECA4647BF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12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778003" y="810002"/>
            <a:ext cx="2532888" cy="53218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1918893" y="811645"/>
            <a:ext cx="2528610" cy="532014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37C4-20E4-D747-90E4-A20635A96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641391" y="811645"/>
            <a:ext cx="2528610" cy="532014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651B3-B85B-FDF6-2B86-C38D687104B5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DD30396-230D-8441-340D-4AD98347E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ED795E04-F78C-CFB4-26EE-513BA8BDD4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509BB85E-622E-EA8B-AF81-DED1C42136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  <p:pic>
        <p:nvPicPr>
          <p:cNvPr id="4" name="Picture 3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70879824-14B0-D0F3-9E66-5C6B18CFAF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5" name="Picture 4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C17B1DBD-3A20-2CBB-1FC7-BA956BBF24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64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978" y="-7716539"/>
            <a:ext cx="2935516" cy="22532368"/>
          </a:xfrm>
          <a:prstGeom prst="rect">
            <a:avLst/>
          </a:prstGeom>
        </p:spPr>
      </p:pic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967986" y="2389412"/>
            <a:ext cx="1829708" cy="2286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728" y="2330279"/>
            <a:ext cx="3053805" cy="2216200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058F0-D55B-4143-9C11-920593638A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3" name="Picture 2" descr="A group of colored crosses&#10;&#10;Description automatically generated">
            <a:extLst>
              <a:ext uri="{FF2B5EF4-FFF2-40B4-BE49-F238E27FC236}">
                <a16:creationId xmlns:a16="http://schemas.microsoft.com/office/drawing/2014/main" id="{425FA48E-7893-A9F4-6ABF-2D042C3586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966" y="56706"/>
            <a:ext cx="1878154" cy="1804211"/>
          </a:xfrm>
          <a:prstGeom prst="rect">
            <a:avLst/>
          </a:prstGeom>
        </p:spPr>
      </p:pic>
      <p:pic>
        <p:nvPicPr>
          <p:cNvPr id="13" name="Picture 12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F7276A19-97C9-E318-3933-DFB35E5A88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8D82FC-7F2E-322F-88A6-62C92A6892F2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EAC4155-428C-53AA-D9AC-17EE25E12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69C582E6-1D83-B21C-D773-3FF058C638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6" name="Picture 5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4D84712-48ED-CF76-4477-8B11230AB74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791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69B6C5-DEEB-5D4B-A903-DA4ADF5D85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728" y="2343834"/>
            <a:ext cx="3791672" cy="10671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58F5F3-AEE6-854A-BE02-1B821FDEAD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727" y="3538539"/>
            <a:ext cx="4208463" cy="22145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6C9055-F6AF-BA4A-A78F-FC82C6C7CD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394" y="1273756"/>
            <a:ext cx="5735736" cy="4822460"/>
          </a:xfrm>
          <a:prstGeom prst="rect">
            <a:avLst/>
          </a:prstGeom>
        </p:spPr>
      </p:pic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356668" y="1548482"/>
            <a:ext cx="5315318" cy="298775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B90CA9A-BC82-52A4-1E31-E9D0856B3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7" name="Picture 16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F655A882-99CA-022B-2561-40AD523CCE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DB384147-446E-9F6F-1B35-76CBD9CB71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245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C6E2F5-516F-A44D-B464-9D7A0957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8" y="2330279"/>
            <a:ext cx="3788188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DC7804-B0C1-B947-933A-E34E37C0AE6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74" y="1447800"/>
            <a:ext cx="7470157" cy="4386036"/>
          </a:xfrm>
          <a:prstGeom prst="rect">
            <a:avLst/>
          </a:prstGeom>
        </p:spPr>
      </p:pic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982906" y="1735302"/>
            <a:ext cx="5641445" cy="357380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707B8CA-E2DC-1F56-837D-01F7AE3D3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blue and black circle with lines&#10;&#10;Description automatically generated">
            <a:extLst>
              <a:ext uri="{FF2B5EF4-FFF2-40B4-BE49-F238E27FC236}">
                <a16:creationId xmlns:a16="http://schemas.microsoft.com/office/drawing/2014/main" id="{B2B4EDAD-BF48-B641-D204-7256F720B2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130" y="52273"/>
            <a:ext cx="1612900" cy="1549400"/>
          </a:xfrm>
          <a:prstGeom prst="rect">
            <a:avLst/>
          </a:prstGeom>
        </p:spPr>
      </p:pic>
      <p:pic>
        <p:nvPicPr>
          <p:cNvPr id="17" name="Picture 16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96CAA463-DBCC-9622-EE53-6ED813EE4B0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171" y="495797"/>
            <a:ext cx="920060" cy="6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70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3AC0103-C813-EA42-943D-A7EB9354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32" y="2330279"/>
            <a:ext cx="3735179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C8F0EE-0EF6-D142-9738-28B17A8934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07" y="456352"/>
            <a:ext cx="5343632" cy="7508718"/>
          </a:xfrm>
          <a:prstGeom prst="rect">
            <a:avLst/>
          </a:prstGeom>
        </p:spPr>
      </p:pic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714807" y="1233959"/>
            <a:ext cx="4453646" cy="594178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CDCC6-543C-D1A8-F95B-F72DABD56430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5D5AEEE-483F-121B-47C2-D1C904923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Picture 15" descr="A yellow and green cross&#10;&#10;Description automatically generated">
            <a:extLst>
              <a:ext uri="{FF2B5EF4-FFF2-40B4-BE49-F238E27FC236}">
                <a16:creationId xmlns:a16="http://schemas.microsoft.com/office/drawing/2014/main" id="{B618DDDF-F5E8-871B-4C89-570F5317F3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18" name="Picture 17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2DCFB13A-7ABE-CCAC-E403-2DD91522F2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2AA27F0C-95C5-A87B-E9D6-B7D316D697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3D72D6E-E901-AD90-7D84-1C4D86CC8A2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720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148902" y="1136822"/>
            <a:ext cx="2161903" cy="4703805"/>
          </a:xfrm>
          <a:prstGeom prst="roundRect">
            <a:avLst>
              <a:gd name="adj" fmla="val 1225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712419" y="1136822"/>
            <a:ext cx="2157984" cy="4700016"/>
          </a:xfrm>
          <a:prstGeom prst="roundRect">
            <a:avLst>
              <a:gd name="adj" fmla="val 10494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E815C3-EA89-EF43-83E5-6BC3E05D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80" y="2330279"/>
            <a:ext cx="3667110" cy="1783443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Prometo Medium" panose="020B0704030203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7C4E10-6706-1045-ACDB-435AD49DB1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pic>
        <p:nvPicPr>
          <p:cNvPr id="3" name="Picture 2" descr="A group of colored crosses&#10;&#10;Description automatically generated">
            <a:extLst>
              <a:ext uri="{FF2B5EF4-FFF2-40B4-BE49-F238E27FC236}">
                <a16:creationId xmlns:a16="http://schemas.microsoft.com/office/drawing/2014/main" id="{9EC29ADB-CE60-A7F7-3436-AEDA81B362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966" y="56706"/>
            <a:ext cx="1878154" cy="1804211"/>
          </a:xfrm>
          <a:prstGeom prst="rect">
            <a:avLst/>
          </a:prstGeom>
        </p:spPr>
      </p:pic>
      <p:pic>
        <p:nvPicPr>
          <p:cNvPr id="10" name="Picture 9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7110C44C-81AC-54E5-82FA-76BC6FF4EF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9272016" y="1136822"/>
            <a:ext cx="2157984" cy="4700016"/>
          </a:xfrm>
          <a:prstGeom prst="roundRect">
            <a:avLst>
              <a:gd name="adj" fmla="val 10763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CD5CEA-20C1-A9ED-26CF-D295C1EBE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4956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FAE0ACF-EA39-CF1C-E614-A1B060A31391}"/>
              </a:ext>
            </a:extLst>
          </p:cNvPr>
          <p:cNvSpPr/>
          <p:nvPr userDrawn="1"/>
        </p:nvSpPr>
        <p:spPr>
          <a:xfrm>
            <a:off x="0" y="503525"/>
            <a:ext cx="3703782" cy="6064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0" y="1222157"/>
            <a:ext cx="2108550" cy="42987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184" y="1222157"/>
            <a:ext cx="2108550" cy="4298758"/>
          </a:xfrm>
          <a:prstGeom prst="rect">
            <a:avLst/>
          </a:prstGeom>
        </p:spPr>
      </p:pic>
      <p:sp>
        <p:nvSpPr>
          <p:cNvPr id="16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36608" y="1700621"/>
            <a:ext cx="1839061" cy="3387771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2846485" y="1700621"/>
            <a:ext cx="1841262" cy="3387771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C6C6-2D8F-0D4E-9012-8B309C3666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63401-E173-4A44-B82E-2F6AD661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943" y="1222157"/>
            <a:ext cx="6064625" cy="9999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F5EB1-48F3-834A-BCC6-E7EB81657C8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00943" y="2196005"/>
            <a:ext cx="6104965" cy="30118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1F329E-B431-1FFC-4DDB-126413F563BA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A8822DE-1F3E-2339-7928-F6F40AEA7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1" name="Picture 20" descr="A yellow and green cross&#10;&#10;Description automatically generated">
            <a:extLst>
              <a:ext uri="{FF2B5EF4-FFF2-40B4-BE49-F238E27FC236}">
                <a16:creationId xmlns:a16="http://schemas.microsoft.com/office/drawing/2014/main" id="{055AC452-B573-692B-57A0-D7C80751E2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54" y="158900"/>
            <a:ext cx="1810897" cy="1739602"/>
          </a:xfrm>
          <a:prstGeom prst="rect">
            <a:avLst/>
          </a:prstGeom>
        </p:spPr>
      </p:pic>
      <p:pic>
        <p:nvPicPr>
          <p:cNvPr id="24" name="Picture 23" descr="A blue circles and circles on a black background&#10;&#10;Description automatically generated">
            <a:extLst>
              <a:ext uri="{FF2B5EF4-FFF2-40B4-BE49-F238E27FC236}">
                <a16:creationId xmlns:a16="http://schemas.microsoft.com/office/drawing/2014/main" id="{5C048C0B-2EF5-0812-A0D5-4A705417C9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14" y="531447"/>
            <a:ext cx="1272886" cy="916353"/>
          </a:xfrm>
          <a:prstGeom prst="rect">
            <a:avLst/>
          </a:prstGeom>
        </p:spPr>
      </p:pic>
      <p:pic>
        <p:nvPicPr>
          <p:cNvPr id="3" name="Picture 2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4CCAC070-EED8-C657-86AA-4382F03CFD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8E1C3A7-D471-F940-CD44-1DA00CEC88E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2B168A-D38C-7A90-0164-91F337E65951}"/>
              </a:ext>
            </a:extLst>
          </p:cNvPr>
          <p:cNvSpPr/>
          <p:nvPr userDrawn="1"/>
        </p:nvSpPr>
        <p:spPr>
          <a:xfrm>
            <a:off x="-165100" y="-249444"/>
            <a:ext cx="126111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110" y="1088044"/>
            <a:ext cx="10591800" cy="999994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Your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AA89A-6C82-3544-ADB9-0812022B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301" y="1745055"/>
            <a:ext cx="10591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3790B-ADBB-8843-938C-061678CFD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420" y="91227"/>
            <a:ext cx="1057078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US" sz="1000" b="0" i="0" kern="1200" spc="0" baseline="0" dirty="0">
                <a:solidFill>
                  <a:schemeClr val="accent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1813E-A06F-173D-7644-1071DC912F19}"/>
              </a:ext>
            </a:extLst>
          </p:cNvPr>
          <p:cNvSpPr/>
          <p:nvPr userDrawn="1"/>
        </p:nvSpPr>
        <p:spPr>
          <a:xfrm>
            <a:off x="0" y="6107026"/>
            <a:ext cx="12192000" cy="752182"/>
          </a:xfrm>
          <a:prstGeom prst="rect">
            <a:avLst/>
          </a:prstGeom>
          <a:solidFill>
            <a:srgbClr val="211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C7980D-2191-F523-17C3-CE5B4212B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D018B5B-3FD1-43B0-9C50-E33EBAC66E2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 descr="A white and green text on a black background&#10;&#10;Description automatically generated">
            <a:extLst>
              <a:ext uri="{FF2B5EF4-FFF2-40B4-BE49-F238E27FC236}">
                <a16:creationId xmlns:a16="http://schemas.microsoft.com/office/drawing/2014/main" id="{4A1BA9B8-B150-EC9E-CF9D-70C18E95B990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4" y="6107026"/>
            <a:ext cx="3406106" cy="757992"/>
          </a:xfrm>
          <a:prstGeom prst="rect">
            <a:avLst/>
          </a:prstGeom>
        </p:spPr>
      </p:pic>
      <p:pic>
        <p:nvPicPr>
          <p:cNvPr id="8" name="Picture 7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D97A4B2A-38AC-6B56-F3C3-11891D70593B}"/>
              </a:ext>
            </a:extLst>
          </p:cNvPr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43" y="6296822"/>
            <a:ext cx="1484314" cy="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5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05" r:id="rId2"/>
    <p:sldLayoutId id="2147483706" r:id="rId3"/>
    <p:sldLayoutId id="2147483715" r:id="rId4"/>
    <p:sldLayoutId id="2147483717" r:id="rId5"/>
    <p:sldLayoutId id="2147483708" r:id="rId6"/>
    <p:sldLayoutId id="2147483654" r:id="rId7"/>
    <p:sldLayoutId id="2147483716" r:id="rId8"/>
    <p:sldLayoutId id="2147483707" r:id="rId9"/>
    <p:sldLayoutId id="2147483655" r:id="rId10"/>
    <p:sldLayoutId id="2147483709" r:id="rId11"/>
    <p:sldLayoutId id="2147483656" r:id="rId12"/>
    <p:sldLayoutId id="2147483657" r:id="rId13"/>
    <p:sldLayoutId id="2147483710" r:id="rId14"/>
    <p:sldLayoutId id="2147483658" r:id="rId15"/>
    <p:sldLayoutId id="2147483711" r:id="rId16"/>
    <p:sldLayoutId id="2147483659" r:id="rId17"/>
    <p:sldLayoutId id="2147483660" r:id="rId18"/>
    <p:sldLayoutId id="2147483661" r:id="rId19"/>
    <p:sldLayoutId id="2147483675" r:id="rId20"/>
    <p:sldLayoutId id="2147483666" r:id="rId21"/>
    <p:sldLayoutId id="2147483667" r:id="rId22"/>
    <p:sldLayoutId id="2147483712" r:id="rId23"/>
    <p:sldLayoutId id="2147483671" r:id="rId24"/>
    <p:sldLayoutId id="2147483668" r:id="rId25"/>
    <p:sldLayoutId id="2147483674" r:id="rId26"/>
    <p:sldLayoutId id="2147483669" r:id="rId27"/>
    <p:sldLayoutId id="2147483670" r:id="rId28"/>
    <p:sldLayoutId id="2147483689" r:id="rId29"/>
    <p:sldLayoutId id="2147483694" r:id="rId30"/>
    <p:sldLayoutId id="2147483696" r:id="rId31"/>
    <p:sldLayoutId id="2147483702" r:id="rId32"/>
    <p:sldLayoutId id="2147483703" r:id="rId33"/>
    <p:sldLayoutId id="2147483695" r:id="rId34"/>
    <p:sldLayoutId id="2147483691" r:id="rId35"/>
    <p:sldLayoutId id="2147483692" r:id="rId36"/>
    <p:sldLayoutId id="2147483673" r:id="rId37"/>
    <p:sldLayoutId id="2147483677" r:id="rId38"/>
    <p:sldLayoutId id="2147483678" r:id="rId39"/>
    <p:sldLayoutId id="2147483679" r:id="rId40"/>
    <p:sldLayoutId id="2147483680" r:id="rId41"/>
    <p:sldLayoutId id="2147483681" r:id="rId42"/>
    <p:sldLayoutId id="2147483682" r:id="rId43"/>
    <p:sldLayoutId id="2147483683" r:id="rId44"/>
    <p:sldLayoutId id="2147483684" r:id="rId45"/>
    <p:sldLayoutId id="2147483685" r:id="rId46"/>
    <p:sldLayoutId id="2147483686" r:id="rId47"/>
  </p:sldLayoutIdLst>
  <p:hf hdr="0" dt="0"/>
  <p:txStyles>
    <p:titleStyle>
      <a:lvl1pPr algn="l" defTabSz="914318" rtl="0" eaLnBrk="1" latinLnBrk="0" hangingPunct="1">
        <a:lnSpc>
          <a:spcPct val="90000"/>
        </a:lnSpc>
        <a:spcBef>
          <a:spcPct val="0"/>
        </a:spcBef>
        <a:buNone/>
        <a:defRPr sz="3600" b="0" i="0" kern="1200" spc="0" baseline="0">
          <a:solidFill>
            <a:schemeClr val="tx2"/>
          </a:solidFill>
          <a:latin typeface="Prometo Medium" panose="020B0704030203060203" pitchFamily="34" charset="0"/>
          <a:ea typeface="+mj-ea"/>
          <a:cs typeface="+mj-cs"/>
        </a:defRPr>
      </a:lvl1pPr>
    </p:titleStyle>
    <p:bodyStyle>
      <a:lvl1pPr marL="185738" marR="0" indent="-185738" algn="l" defTabSz="914318" rtl="0" eaLnBrk="1" fontAlgn="auto" latinLnBrk="0" hangingPunct="1">
        <a:lnSpc>
          <a:spcPct val="110000"/>
        </a:lnSpc>
        <a:spcBef>
          <a:spcPts val="1000"/>
        </a:spcBef>
        <a:spcAft>
          <a:spcPts val="500"/>
        </a:spcAft>
        <a:buClr>
          <a:schemeClr val="accent4"/>
        </a:buClr>
        <a:buSzTx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406400" indent="-177800" algn="l" defTabSz="914318" rtl="0" eaLnBrk="1" latinLnBrk="0" hangingPunct="1">
        <a:lnSpc>
          <a:spcPct val="110000"/>
        </a:lnSpc>
        <a:spcBef>
          <a:spcPts val="499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635000" indent="-177800" algn="l" defTabSz="914318" rtl="0" eaLnBrk="1" latinLnBrk="0" hangingPunct="1">
        <a:lnSpc>
          <a:spcPct val="110000"/>
        </a:lnSpc>
        <a:spcBef>
          <a:spcPts val="499"/>
        </a:spcBef>
        <a:spcAft>
          <a:spcPts val="500"/>
        </a:spcAft>
        <a:buClr>
          <a:schemeClr val="accent2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922338" indent="-177800" algn="l" defTabSz="914318" rtl="0" eaLnBrk="1" latinLnBrk="0" hangingPunct="1">
        <a:lnSpc>
          <a:spcPct val="110000"/>
        </a:lnSpc>
        <a:spcBef>
          <a:spcPts val="499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50938" indent="-177800" algn="l" defTabSz="914318" rtl="0" eaLnBrk="1" latinLnBrk="0" hangingPunct="1">
        <a:lnSpc>
          <a:spcPct val="110000"/>
        </a:lnSpc>
        <a:spcBef>
          <a:spcPts val="499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sz="1800" b="0" i="0" kern="1200" baseline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688975" indent="-169863" algn="l" defTabSz="914318" rtl="0" eaLnBrk="1" latinLnBrk="0" hangingPunct="1">
        <a:lnSpc>
          <a:spcPct val="90000"/>
        </a:lnSpc>
        <a:spcBef>
          <a:spcPts val="499"/>
        </a:spcBef>
        <a:buClr>
          <a:schemeClr val="accent3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1296" userDrawn="1">
          <p15:clr>
            <a:srgbClr val="F26B43"/>
          </p15:clr>
        </p15:guide>
        <p15:guide id="29" pos="7200">
          <p15:clr>
            <a:srgbClr val="F26B43"/>
          </p15:clr>
        </p15:guide>
        <p15:guide id="48" pos="312" userDrawn="1">
          <p15:clr>
            <a:srgbClr val="F26B43"/>
          </p15:clr>
        </p15:guide>
        <p15:guide id="51" orient="horz" pos="9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healthrate.io/" TargetMode="Externa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healthrate.io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D41121-356A-87CF-A08B-2999BB6115C2}"/>
              </a:ext>
            </a:extLst>
          </p:cNvPr>
          <p:cNvSpPr/>
          <p:nvPr/>
        </p:nvSpPr>
        <p:spPr>
          <a:xfrm>
            <a:off x="-2034072" y="6112291"/>
            <a:ext cx="15507476" cy="7457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E7708E1-0C06-B172-D008-16E76E27048D}"/>
              </a:ext>
            </a:extLst>
          </p:cNvPr>
          <p:cNvSpPr txBox="1">
            <a:spLocks/>
          </p:cNvSpPr>
          <p:nvPr/>
        </p:nvSpPr>
        <p:spPr>
          <a:xfrm>
            <a:off x="504435" y="6112291"/>
            <a:ext cx="10944226" cy="745709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algn="l" defTabSz="91431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spc="0" baseline="0">
                <a:solidFill>
                  <a:schemeClr val="bg1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dirty="0"/>
              <a:t>Discover Brands Before They Breakthrough</a:t>
            </a:r>
            <a:endParaRPr lang="en-US" sz="1800" dirty="0">
              <a:solidFill>
                <a:srgbClr val="3CD5AF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FD72A-783E-357F-22EF-10C643724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018B5B-3FD1-43B0-9C50-E33EBAC66E22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147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3435-8299-BC4D-825F-35641B66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4981" y="1671638"/>
            <a:ext cx="3297237" cy="1782762"/>
          </a:xfrm>
        </p:spPr>
        <p:txBody>
          <a:bodyPr wrap="none" anchor="t"/>
          <a:lstStyle/>
          <a:p>
            <a:r>
              <a:rPr lang="en-US" dirty="0"/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568" y="3822021"/>
            <a:ext cx="4730258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Chief Executive Officer</a:t>
            </a:r>
          </a:p>
          <a:p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45214C5-C427-6F85-90B4-B018AEDDDC81}"/>
              </a:ext>
            </a:extLst>
          </p:cNvPr>
          <p:cNvSpPr txBox="1">
            <a:spLocks/>
          </p:cNvSpPr>
          <p:nvPr/>
        </p:nvSpPr>
        <p:spPr>
          <a:xfrm>
            <a:off x="514109" y="3379042"/>
            <a:ext cx="10591800" cy="518337"/>
          </a:xfrm>
          <a:prstGeom prst="rect">
            <a:avLst/>
          </a:prstGeom>
        </p:spPr>
        <p:txBody>
          <a:bodyPr lIns="0"/>
          <a:lstStyle>
            <a:lvl1pPr marL="185738" marR="0" indent="-185738" algn="l" defTabSz="914318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06400" indent="-177800" algn="l" defTabSz="914318" rtl="0" eaLnBrk="1" latinLnBrk="0" hangingPunct="1">
              <a:lnSpc>
                <a:spcPct val="110000"/>
              </a:lnSpc>
              <a:spcBef>
                <a:spcPts val="499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635000" indent="-177800" algn="l" defTabSz="914318" rtl="0" eaLnBrk="1" latinLnBrk="0" hangingPunct="1">
              <a:lnSpc>
                <a:spcPct val="110000"/>
              </a:lnSpc>
              <a:spcBef>
                <a:spcPts val="499"/>
              </a:spcBef>
              <a:spcAft>
                <a:spcPts val="5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922338" indent="-177800" algn="l" defTabSz="914318" rtl="0" eaLnBrk="1" latinLnBrk="0" hangingPunct="1">
              <a:lnSpc>
                <a:spcPct val="110000"/>
              </a:lnSpc>
              <a:spcBef>
                <a:spcPts val="499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150938" indent="-177800" algn="l" defTabSz="914318" rtl="0" eaLnBrk="1" latinLnBrk="0" hangingPunct="1">
              <a:lnSpc>
                <a:spcPct val="110000"/>
              </a:lnSpc>
              <a:spcBef>
                <a:spcPts val="499"/>
              </a:spcBef>
              <a:spcAft>
                <a:spcPts val="5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8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688975" indent="-169863" algn="l" defTabSz="914318" rtl="0" eaLnBrk="1" latinLnBrk="0" hangingPunct="1">
              <a:lnSpc>
                <a:spcPct val="90000"/>
              </a:lnSpc>
              <a:spcBef>
                <a:spcPts val="499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</a:rPr>
              <a:t>Tim Michaels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E95CC56-F82F-59A6-F20D-E28815348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05556C-72C6-15FC-BDD5-2A7B6A2C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5565" y="1200604"/>
            <a:ext cx="4456996" cy="435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4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79125" y="2212173"/>
            <a:ext cx="4736679" cy="342843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Tim is the Founder and CEO of HealthRate and has over 30 years of experience across healthcare with a focus on risk management, analytics, reimbursement strategies, and software development.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Prior to starting HealthRate, Tim successfully led the formation and operations of several public and private companies, worked as a strategic advisor to prominent healthcare organizations, and served on multiple governance boards. He has extensive experience in operations, product development, risk management, and information technology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980804" y="1112911"/>
            <a:ext cx="5016050" cy="646331"/>
          </a:xfrm>
          <a:prstGeom prst="rect">
            <a:avLst/>
          </a:prstGeom>
        </p:spPr>
        <p:txBody>
          <a:bodyPr wrap="square"/>
          <a:lstStyle>
            <a:lvl1pPr algn="l" defTabSz="914318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r>
              <a:rPr lang="en-US" i="0" dirty="0">
                <a:solidFill>
                  <a:schemeClr val="tx2"/>
                </a:solidFill>
              </a:rPr>
              <a:t>Tim Michaels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E55BC-6B40-9D42-9D2E-BCA0CA6C687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47F2F-6DBE-6F17-A4E3-7C2FB836D0DB}"/>
              </a:ext>
            </a:extLst>
          </p:cNvPr>
          <p:cNvSpPr txBox="1"/>
          <p:nvPr/>
        </p:nvSpPr>
        <p:spPr>
          <a:xfrm>
            <a:off x="5079125" y="1709180"/>
            <a:ext cx="254556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Chief Executive Officer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895B61D-07D9-9FF0-D7AF-6C0526EB0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CC4537-6768-BEAE-7C71-F7B606F2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91" y="1450127"/>
            <a:ext cx="3711242" cy="395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3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59A249-6C22-1D97-256B-2EE3F850479B}"/>
              </a:ext>
            </a:extLst>
          </p:cNvPr>
          <p:cNvSpPr txBox="1">
            <a:spLocks/>
          </p:cNvSpPr>
          <p:nvPr/>
        </p:nvSpPr>
        <p:spPr>
          <a:xfrm>
            <a:off x="495300" y="2233958"/>
            <a:ext cx="8895229" cy="1974247"/>
          </a:xfrm>
          <a:prstGeom prst="rect">
            <a:avLst/>
          </a:prstGeom>
        </p:spPr>
        <p:txBody>
          <a:bodyPr lIns="0" rIns="0"/>
          <a:lstStyle>
            <a:lvl1pPr algn="l" defTabSz="91431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i="0" dirty="0">
                <a:solidFill>
                  <a:schemeClr val="accent4"/>
                </a:solidFill>
              </a:rPr>
              <a:t>HealthRate is like </a:t>
            </a:r>
            <a:r>
              <a:rPr lang="en-US" i="0" dirty="0" err="1">
                <a:solidFill>
                  <a:schemeClr val="accent4"/>
                </a:solidFill>
              </a:rPr>
              <a:t>GoodRx</a:t>
            </a:r>
            <a:r>
              <a:rPr lang="en-US" i="0" dirty="0">
                <a:solidFill>
                  <a:schemeClr val="accent4"/>
                </a:solidFill>
              </a:rPr>
              <a:t> for high-cost claims.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AEE850-B3F2-8D54-7B58-8850E8D8D6CE}"/>
              </a:ext>
            </a:extLst>
          </p:cNvPr>
          <p:cNvSpPr txBox="1">
            <a:spLocks/>
          </p:cNvSpPr>
          <p:nvPr/>
        </p:nvSpPr>
        <p:spPr>
          <a:xfrm>
            <a:off x="495300" y="1089349"/>
            <a:ext cx="8895229" cy="10287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0" dirty="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7D8117-FDBC-8D9A-4904-AD89FD252561}"/>
              </a:ext>
            </a:extLst>
          </p:cNvPr>
          <p:cNvSpPr txBox="1">
            <a:spLocks/>
          </p:cNvSpPr>
          <p:nvPr/>
        </p:nvSpPr>
        <p:spPr>
          <a:xfrm>
            <a:off x="495299" y="4440666"/>
            <a:ext cx="8895229" cy="10287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i="0" dirty="0">
                <a:solidFill>
                  <a:schemeClr val="tx2"/>
                </a:solidFill>
                <a:latin typeface="Century Gothic" panose="020B0502020202020204" pitchFamily="34" charset="0"/>
              </a:rPr>
              <a:t>Paul Stordahl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Chief Actuary Emeritus, UnitedHealthcare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DE0F84D-B432-015F-DDAD-0FD1D62E9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2F377BD-22C2-5A83-0683-692543E66C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7420" y="91227"/>
            <a:ext cx="10570781" cy="365125"/>
          </a:xfrm>
        </p:spPr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71FE3-97BB-A5C7-3C10-32BF1BD89177}"/>
              </a:ext>
            </a:extLst>
          </p:cNvPr>
          <p:cNvSpPr txBox="1">
            <a:spLocks/>
          </p:cNvSpPr>
          <p:nvPr/>
        </p:nvSpPr>
        <p:spPr>
          <a:xfrm rot="10800000">
            <a:off x="495298" y="2781386"/>
            <a:ext cx="8895229" cy="10287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0" dirty="0">
                <a:solidFill>
                  <a:schemeClr val="tx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895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DDE0-8193-E940-B99D-4893C4BC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HealthRate?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1B88C-D763-EB4E-AD8A-F8263DCFFF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PRICE ARBITRAGE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BCE83-12E3-044C-94CE-59055F0844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33E387E-3756-DC1B-B2A9-DDA7B141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55212C1-D4CE-0E99-5F58-7E1991209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6301" y="2278265"/>
            <a:ext cx="8718060" cy="3686175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HealthRate is an Award-Winning SaaS platform that provides payers the best pricing for high-cost claims</a:t>
            </a:r>
          </a:p>
          <a:p>
            <a:pPr marL="449262" lvl="2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No impact to quality</a:t>
            </a:r>
          </a:p>
          <a:p>
            <a:pPr marL="449262" lvl="2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No provider abrasion</a:t>
            </a:r>
          </a:p>
          <a:p>
            <a:pPr marL="449262" lvl="2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No patient intervention is required</a:t>
            </a:r>
          </a:p>
          <a:p>
            <a:pPr marL="449262" lvl="2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No claims auditing or “chasing cash”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Implementation is as simple as adding click button analysis to your existing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6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00" y="1054736"/>
            <a:ext cx="5069272" cy="1028700"/>
          </a:xfrm>
        </p:spPr>
        <p:txBody>
          <a:bodyPr wrap="none"/>
          <a:lstStyle/>
          <a:p>
            <a:r>
              <a:rPr lang="en-US" dirty="0"/>
              <a:t>Who Uses HealthRate</a:t>
            </a:r>
            <a:br>
              <a:rPr lang="en-US" dirty="0"/>
            </a:br>
            <a:r>
              <a:rPr lang="en-US" dirty="0"/>
              <a:t>&amp; What Does it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800" y="3034976"/>
            <a:ext cx="4220196" cy="16952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Payers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At Risk Providers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Employers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Stop Loss Providers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Reinsurance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 Gothic" panose="020B0502020202020204" pitchFamily="34" charset="0"/>
              </a:rPr>
              <a:t>3</a:t>
            </a:r>
            <a:r>
              <a:rPr lang="en-US" sz="1600" baseline="30000" dirty="0">
                <a:latin typeface="Century Gothic" panose="020B0502020202020204" pitchFamily="34" charset="0"/>
              </a:rPr>
              <a:t>RD</a:t>
            </a:r>
            <a:r>
              <a:rPr lang="en-US" sz="1600" dirty="0">
                <a:latin typeface="Century Gothic" panose="020B0502020202020204" pitchFamily="34" charset="0"/>
              </a:rPr>
              <a:t> Party Service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800" y="2506366"/>
            <a:ext cx="481702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defTabSz="914318"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</a:pPr>
            <a:r>
              <a:rPr lang="en-US" sz="1600" b="1" spc="50" dirty="0">
                <a:solidFill>
                  <a:schemeClr val="accent4"/>
                </a:solidFill>
              </a:rPr>
              <a:t>FINANCIALY AT RISK ENTITIES AND FIDUCIARIES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5905A-2288-714B-AD02-D00069A6964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79A0C39-E322-3399-8934-4BA6B37A8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0F5C4-50DE-D732-F854-107A491F4CA7}"/>
              </a:ext>
            </a:extLst>
          </p:cNvPr>
          <p:cNvSpPr txBox="1"/>
          <p:nvPr/>
        </p:nvSpPr>
        <p:spPr>
          <a:xfrm>
            <a:off x="7519865" y="2083436"/>
            <a:ext cx="3931062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i="1" kern="0" dirty="0">
                <a:solidFill>
                  <a:srgbClr val="29407E"/>
                </a:solidFill>
                <a:latin typeface="Montserrat" pitchFamily="2" charset="77"/>
              </a:rPr>
              <a:t>Pricing is available on a monthly SaaS subscription model and is primarily based on the number of lives supported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i="1" kern="0" dirty="0">
              <a:solidFill>
                <a:srgbClr val="29407E"/>
              </a:solidFill>
              <a:latin typeface="Montserrat" pitchFamily="2" charset="77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i="1" kern="0" dirty="0">
                <a:solidFill>
                  <a:srgbClr val="29407E"/>
                </a:solidFill>
                <a:latin typeface="Montserrat" pitchFamily="2" charset="77"/>
              </a:rPr>
              <a:t>You may also qualify for no risk pricing where HealthRate will guarantee savings and provide a 100% refund if agreed upon savings are not achieved.</a:t>
            </a:r>
          </a:p>
        </p:txBody>
      </p:sp>
    </p:spTree>
    <p:extLst>
      <p:ext uri="{BB962C8B-B14F-4D97-AF65-F5344CB8AC3E}">
        <p14:creationId xmlns:p14="http://schemas.microsoft.com/office/powerpoint/2010/main" val="373787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/>
          <p:cNvCxnSpPr>
            <a:cxnSpLocks/>
            <a:endCxn id="51" idx="4"/>
          </p:cNvCxnSpPr>
          <p:nvPr/>
        </p:nvCxnSpPr>
        <p:spPr>
          <a:xfrm>
            <a:off x="4602203" y="1651516"/>
            <a:ext cx="7061" cy="333699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12EDF1-6427-1E4A-A94D-16A7DA927B31}"/>
              </a:ext>
            </a:extLst>
          </p:cNvPr>
          <p:cNvGrpSpPr/>
          <p:nvPr/>
        </p:nvGrpSpPr>
        <p:grpSpPr>
          <a:xfrm>
            <a:off x="4400984" y="3007310"/>
            <a:ext cx="416560" cy="416560"/>
            <a:chOff x="6052888" y="1435897"/>
            <a:chExt cx="416560" cy="416560"/>
          </a:xfrm>
          <a:solidFill>
            <a:schemeClr val="accent2"/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D837585-1786-CE46-BF47-9BC847C756D8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2B79302-86B2-C246-8137-26D7B043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756" y="714384"/>
            <a:ext cx="8758500" cy="1783443"/>
          </a:xfrm>
        </p:spPr>
        <p:txBody>
          <a:bodyPr/>
          <a:lstStyle/>
          <a:p>
            <a:r>
              <a:rPr lang="en-US" i="0" dirty="0"/>
              <a:t>How Does</a:t>
            </a:r>
            <a:br>
              <a:rPr lang="en-US" i="0" dirty="0"/>
            </a:br>
            <a:r>
              <a:rPr lang="en-US" dirty="0"/>
              <a:t>HealthRate Do It?</a:t>
            </a:r>
            <a:endParaRPr lang="en-US" i="0" dirty="0"/>
          </a:p>
        </p:txBody>
      </p:sp>
      <p:sp>
        <p:nvSpPr>
          <p:cNvPr id="15" name="TextBox 14"/>
          <p:cNvSpPr txBox="1"/>
          <p:nvPr/>
        </p:nvSpPr>
        <p:spPr>
          <a:xfrm>
            <a:off x="5244206" y="1386219"/>
            <a:ext cx="569386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Specialty Contracting Expertise + Legislative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4204" y="3007826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Advanced Actuarial Expertise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204" y="4579993"/>
            <a:ext cx="136575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De-Mystified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95CC75-B476-0E49-8E97-E4815442082A}"/>
              </a:ext>
            </a:extLst>
          </p:cNvPr>
          <p:cNvGrpSpPr/>
          <p:nvPr/>
        </p:nvGrpSpPr>
        <p:grpSpPr>
          <a:xfrm>
            <a:off x="4400984" y="1435897"/>
            <a:ext cx="416560" cy="416560"/>
            <a:chOff x="6052888" y="1435897"/>
            <a:chExt cx="416560" cy="41656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B5C462-45B6-0B4C-A980-0482B4B74052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0BB8AA9-CCB0-D14A-B77E-0DA5E7623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CAF5AD7-CA74-4F46-8AD1-8830C860F105}"/>
              </a:ext>
            </a:extLst>
          </p:cNvPr>
          <p:cNvGrpSpPr/>
          <p:nvPr/>
        </p:nvGrpSpPr>
        <p:grpSpPr>
          <a:xfrm>
            <a:off x="4400984" y="4571950"/>
            <a:ext cx="416560" cy="416560"/>
            <a:chOff x="6052888" y="1435897"/>
            <a:chExt cx="416560" cy="416560"/>
          </a:xfrm>
          <a:solidFill>
            <a:schemeClr val="tx2"/>
          </a:solidFill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9C857F0-240D-D442-A91B-A1D0A7FC8DF2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1742D9D-0E33-7A48-8300-7EF284FE2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4" name="TextBox 3"/>
          <p:cNvSpPr txBox="1"/>
          <p:nvPr/>
        </p:nvSpPr>
        <p:spPr>
          <a:xfrm>
            <a:off x="5159680" y="1693996"/>
            <a:ext cx="4794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Niche industry experts who have defined the industries payment methodologies, levers, and triggers for specialty reimbursement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Transparency in Coverage and No Surprises Act have triggered increased competition</a:t>
            </a:r>
          </a:p>
          <a:p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5159680" y="3294296"/>
            <a:ext cx="4794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Decades of real-world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Proprietary Artificial Intelligence(AI) to ingest and process payment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Advance statistical analysis and proprietary algorithms to identify and quantify opportunities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159680" y="4881447"/>
            <a:ext cx="4794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1200" dirty="0"/>
              <a:t>Update your precertification and utilization processes with existing staff</a:t>
            </a:r>
          </a:p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1200" dirty="0"/>
              <a:t>Login to </a:t>
            </a:r>
            <a:r>
              <a:rPr lang="en-US" sz="1200" dirty="0">
                <a:hlinkClick r:id="rId5"/>
              </a:rPr>
              <a:t>www.healthrate.io</a:t>
            </a:r>
            <a:r>
              <a:rPr lang="en-US" sz="1200" dirty="0"/>
              <a:t> and begin saving!</a:t>
            </a:r>
          </a:p>
          <a:p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FDCC7-CE0A-494C-87F7-7CD7937FAB53}"/>
              </a:ext>
            </a:extLst>
          </p:cNvPr>
          <p:cNvSpPr txBox="1"/>
          <p:nvPr/>
        </p:nvSpPr>
        <p:spPr>
          <a:xfrm>
            <a:off x="501673" y="4178844"/>
            <a:ext cx="3180273" cy="160043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Built on decades of domain experience, trillions of data points, advanced statistical methods, and recent advancements in AI/ML, HealthRate proactively identifies the optimal source and cost of care.</a:t>
            </a:r>
          </a:p>
          <a:p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B24ED9-1466-364E-821B-6EBF30F58DE6}"/>
              </a:ext>
            </a:extLst>
          </p:cNvPr>
          <p:cNvSpPr txBox="1"/>
          <p:nvPr/>
        </p:nvSpPr>
        <p:spPr>
          <a:xfrm>
            <a:off x="501674" y="3588390"/>
            <a:ext cx="2636940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PAYMENT OPTIMIZATION &amp; 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DECISION SUPPORT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B8167-751A-7043-8D94-55AADCF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40112090-EC0C-2BCA-F91C-247D1D2EF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41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77DF7-13E7-5D4D-9351-F979A67AF3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HealthRate.io – Turning Price Irrationality into Dollars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E416C4E-AD7C-8E4F-4263-953B2F066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15743-6869-9987-9D04-0C909BB0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41" y="1521910"/>
            <a:ext cx="5471055" cy="304926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F30C5AF-790E-3FC5-DD29-585E7BFF94E1}"/>
              </a:ext>
            </a:extLst>
          </p:cNvPr>
          <p:cNvSpPr txBox="1">
            <a:spLocks/>
          </p:cNvSpPr>
          <p:nvPr/>
        </p:nvSpPr>
        <p:spPr>
          <a:xfrm>
            <a:off x="477924" y="1367224"/>
            <a:ext cx="4187371" cy="1783443"/>
          </a:xfrm>
          <a:prstGeom prst="rect">
            <a:avLst/>
          </a:prstGeom>
        </p:spPr>
        <p:txBody>
          <a:bodyPr wrap="square" lIns="0"/>
          <a:lstStyle>
            <a:lvl1pPr algn="l" defTabSz="91431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1" kern="1200" spc="0" baseline="0">
                <a:solidFill>
                  <a:srgbClr val="1E22AA"/>
                </a:solidFill>
                <a:latin typeface="Prometo Medium" panose="020B0704030203060203" pitchFamily="34" charset="0"/>
                <a:ea typeface="+mj-ea"/>
                <a:cs typeface="+mj-cs"/>
              </a:defRPr>
            </a:lvl1pPr>
          </a:lstStyle>
          <a:p>
            <a:r>
              <a:rPr lang="en-US" i="0" dirty="0">
                <a:solidFill>
                  <a:schemeClr val="tx2"/>
                </a:solidFill>
              </a:rPr>
              <a:t>What Do I </a:t>
            </a:r>
          </a:p>
          <a:p>
            <a:r>
              <a:rPr lang="en-US" i="0" dirty="0">
                <a:solidFill>
                  <a:schemeClr val="tx2"/>
                </a:solidFill>
              </a:rPr>
              <a:t>Get?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FA6321-9F5C-8742-1C8C-158FBE4A3F14}"/>
              </a:ext>
            </a:extLst>
          </p:cNvPr>
          <p:cNvSpPr txBox="1"/>
          <p:nvPr/>
        </p:nvSpPr>
        <p:spPr>
          <a:xfrm>
            <a:off x="497003" y="3232885"/>
            <a:ext cx="3180273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A comprehensive analysis is produced for each case, clearly documenting the opportunity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B18EE-3A4E-376A-87E2-C5E5374E8CED}"/>
              </a:ext>
            </a:extLst>
          </p:cNvPr>
          <p:cNvSpPr txBox="1"/>
          <p:nvPr/>
        </p:nvSpPr>
        <p:spPr>
          <a:xfrm>
            <a:off x="497004" y="2744031"/>
            <a:ext cx="2478243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DETAILED CASE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4D9CB8-A55B-0374-C517-357DE037609F}"/>
              </a:ext>
            </a:extLst>
          </p:cNvPr>
          <p:cNvSpPr txBox="1"/>
          <p:nvPr/>
        </p:nvSpPr>
        <p:spPr>
          <a:xfrm>
            <a:off x="477924" y="4752112"/>
            <a:ext cx="3180273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Each case can produce reduced claims between $50,000 and $1,000,000+.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C4DAF3-920B-BC96-CB7D-9B00CF688F3D}"/>
              </a:ext>
            </a:extLst>
          </p:cNvPr>
          <p:cNvSpPr txBox="1"/>
          <p:nvPr/>
        </p:nvSpPr>
        <p:spPr>
          <a:xfrm>
            <a:off x="477925" y="4263258"/>
            <a:ext cx="2050241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COST CONTAINMENT</a:t>
            </a:r>
          </a:p>
        </p:txBody>
      </p:sp>
    </p:spTree>
    <p:extLst>
      <p:ext uri="{BB962C8B-B14F-4D97-AF65-F5344CB8AC3E}">
        <p14:creationId xmlns:p14="http://schemas.microsoft.com/office/powerpoint/2010/main" val="243360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F34D-DE4E-09EE-6B63-0CFBD737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3B96B2-8A70-7BA3-17FD-60D3199574D5}"/>
              </a:ext>
            </a:extLst>
          </p:cNvPr>
          <p:cNvCxnSpPr>
            <a:cxnSpLocks/>
            <a:endCxn id="51" idx="4"/>
          </p:cNvCxnSpPr>
          <p:nvPr/>
        </p:nvCxnSpPr>
        <p:spPr>
          <a:xfrm>
            <a:off x="4602203" y="1651516"/>
            <a:ext cx="7061" cy="333699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029AFB-45D4-6E56-3E05-A8E1FD3087D7}"/>
              </a:ext>
            </a:extLst>
          </p:cNvPr>
          <p:cNvGrpSpPr/>
          <p:nvPr/>
        </p:nvGrpSpPr>
        <p:grpSpPr>
          <a:xfrm>
            <a:off x="4400984" y="3078430"/>
            <a:ext cx="416560" cy="416560"/>
            <a:chOff x="6052888" y="1435897"/>
            <a:chExt cx="416560" cy="416560"/>
          </a:xfrm>
          <a:solidFill>
            <a:schemeClr val="accent2"/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42315FD-61ED-8409-6182-2DF9C6A56296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6CCF626-D5E9-3AEA-D499-B57570D9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C9B7A6-A98E-6DEF-997A-7F65295F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56" y="714384"/>
            <a:ext cx="8758500" cy="1783443"/>
          </a:xfrm>
        </p:spPr>
        <p:txBody>
          <a:bodyPr/>
          <a:lstStyle/>
          <a:p>
            <a:r>
              <a:rPr lang="en-US" i="0" dirty="0"/>
              <a:t>How Do I</a:t>
            </a:r>
            <a:br>
              <a:rPr lang="en-US" i="0" dirty="0"/>
            </a:br>
            <a:r>
              <a:rPr lang="en-US" dirty="0"/>
              <a:t>Get Started?</a:t>
            </a:r>
            <a:endParaRPr lang="en-US" i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4D142-F409-4131-8473-BDA6042EA093}"/>
              </a:ext>
            </a:extLst>
          </p:cNvPr>
          <p:cNvSpPr txBox="1"/>
          <p:nvPr/>
        </p:nvSpPr>
        <p:spPr>
          <a:xfrm>
            <a:off x="5244206" y="1386219"/>
            <a:ext cx="38199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Select your LOB’s and Service Lines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ADB98-7D7C-366D-2709-996FC0751304}"/>
              </a:ext>
            </a:extLst>
          </p:cNvPr>
          <p:cNvSpPr txBox="1"/>
          <p:nvPr/>
        </p:nvSpPr>
        <p:spPr>
          <a:xfrm>
            <a:off x="5244204" y="3078946"/>
            <a:ext cx="31947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Select your Subscription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D94A85-312A-7123-8452-54D3E2B7DAE5}"/>
              </a:ext>
            </a:extLst>
          </p:cNvPr>
          <p:cNvSpPr txBox="1"/>
          <p:nvPr/>
        </p:nvSpPr>
        <p:spPr>
          <a:xfrm>
            <a:off x="5244204" y="4579993"/>
            <a:ext cx="7469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rometo Medium" panose="020B0704030203060203" pitchFamily="34" charset="0"/>
              </a:rPr>
              <a:t>Deploy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B4F1D6-B0E4-6BEF-6984-BB42C43FDCBC}"/>
              </a:ext>
            </a:extLst>
          </p:cNvPr>
          <p:cNvGrpSpPr/>
          <p:nvPr/>
        </p:nvGrpSpPr>
        <p:grpSpPr>
          <a:xfrm>
            <a:off x="4400984" y="1435897"/>
            <a:ext cx="416560" cy="416560"/>
            <a:chOff x="6052888" y="1435897"/>
            <a:chExt cx="416560" cy="41656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2CBE019-46F2-BC49-612D-5A700841F5A2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5A2641A-CDBB-377C-7C31-7DBCF67B6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2EDF599-B6B4-A4B3-D259-91ACA7003EA4}"/>
              </a:ext>
            </a:extLst>
          </p:cNvPr>
          <p:cNvGrpSpPr/>
          <p:nvPr/>
        </p:nvGrpSpPr>
        <p:grpSpPr>
          <a:xfrm>
            <a:off x="4400984" y="4571950"/>
            <a:ext cx="416560" cy="416560"/>
            <a:chOff x="6052888" y="1435897"/>
            <a:chExt cx="416560" cy="416560"/>
          </a:xfrm>
          <a:solidFill>
            <a:schemeClr val="tx2"/>
          </a:solidFill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970022-0228-88BB-BC06-921790E028B1}"/>
                </a:ext>
              </a:extLst>
            </p:cNvPr>
            <p:cNvSpPr/>
            <p:nvPr/>
          </p:nvSpPr>
          <p:spPr>
            <a:xfrm>
              <a:off x="6052888" y="1435897"/>
              <a:ext cx="416560" cy="4165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1B5A6BF-478C-D54E-7F16-2AAC3601D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156" y="1570901"/>
              <a:ext cx="257303" cy="193802"/>
            </a:xfrm>
            <a:prstGeom prst="rect">
              <a:avLst/>
            </a:prstGeom>
            <a:grpFill/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86FACF8-09B9-9732-5AB0-BE238D77ED19}"/>
              </a:ext>
            </a:extLst>
          </p:cNvPr>
          <p:cNvSpPr txBox="1"/>
          <p:nvPr/>
        </p:nvSpPr>
        <p:spPr>
          <a:xfrm>
            <a:off x="5159680" y="1693996"/>
            <a:ext cx="4794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Commercial, Medicare, and Medicaid are all supported.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Oncology, Organ Transplants, Stem Cell Transplants, and Novel Therapies (CGT) are all supported</a:t>
            </a:r>
          </a:p>
          <a:p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DC1874-7352-C116-AE94-0465E1C2399B}"/>
              </a:ext>
            </a:extLst>
          </p:cNvPr>
          <p:cNvSpPr txBox="1"/>
          <p:nvPr/>
        </p:nvSpPr>
        <p:spPr>
          <a:xfrm>
            <a:off x="5159680" y="3365416"/>
            <a:ext cx="4794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Self-service, full-service, and data only(API) models are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Your data, our data, or hybrid models are supported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FC6DDB-0BE7-3706-429B-F90FB2CD3B26}"/>
              </a:ext>
            </a:extLst>
          </p:cNvPr>
          <p:cNvSpPr txBox="1"/>
          <p:nvPr/>
        </p:nvSpPr>
        <p:spPr>
          <a:xfrm>
            <a:off x="5159680" y="4881447"/>
            <a:ext cx="4794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1200" dirty="0"/>
              <a:t>Update your precertification and Utilization Review process to complete a 1–3 minute price check</a:t>
            </a:r>
          </a:p>
          <a:p>
            <a:pPr marL="342814" indent="-342814">
              <a:buFont typeface="Arial" panose="020B0604020202020204" pitchFamily="34" charset="0"/>
              <a:buChar char="•"/>
            </a:pPr>
            <a:r>
              <a:rPr lang="en-US" sz="1200" dirty="0"/>
              <a:t>Login to </a:t>
            </a:r>
            <a:r>
              <a:rPr lang="en-US" sz="1200" dirty="0">
                <a:hlinkClick r:id="rId4"/>
              </a:rPr>
              <a:t>www.healthrate.io</a:t>
            </a:r>
            <a:r>
              <a:rPr lang="en-US" sz="1200" dirty="0"/>
              <a:t> and begin saving!</a:t>
            </a:r>
          </a:p>
          <a:p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771E80-AA97-2F7C-7217-AEB59663454F}"/>
              </a:ext>
            </a:extLst>
          </p:cNvPr>
          <p:cNvSpPr txBox="1"/>
          <p:nvPr/>
        </p:nvSpPr>
        <p:spPr>
          <a:xfrm>
            <a:off x="501673" y="4443004"/>
            <a:ext cx="3180273" cy="138499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HealthRate requires minimal training, supports a zero-technology integration option, contains no HIPAA data and was designed with your existing processes in mind</a:t>
            </a:r>
          </a:p>
          <a:p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1EFF1-8F29-AE62-5C18-B63997887BAD}"/>
              </a:ext>
            </a:extLst>
          </p:cNvPr>
          <p:cNvSpPr txBox="1"/>
          <p:nvPr/>
        </p:nvSpPr>
        <p:spPr>
          <a:xfrm>
            <a:off x="501674" y="3954150"/>
            <a:ext cx="229389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Century Gothic" panose="020B0502020202020204" pitchFamily="34" charset="0"/>
              </a:rPr>
              <a:t>SEEMLESS INTEGRATION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4FC4-9881-2D64-4E49-52C2EBDA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76A6522-3830-4B77-1535-14479BC4B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3601" y="6373546"/>
            <a:ext cx="2727326" cy="219075"/>
          </a:xfrm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9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16EE9-89B7-2FCE-655E-0B4F76FD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4B1A5-8809-16C4-5E86-A53E33316A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HealthRate.io – Turning Price Irrationality into Dollars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F8D896-A394-0329-7C1F-ECEA8A73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2F8AF2E6-64A8-0F46-AF27-0A96D82A033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21737"/>
      </p:ext>
    </p:extLst>
  </p:cSld>
  <p:clrMapOvr>
    <a:masterClrMapping/>
  </p:clrMapOvr>
</p:sld>
</file>

<file path=ppt/theme/theme1.xml><?xml version="1.0" encoding="utf-8"?>
<a:theme xmlns:a="http://schemas.openxmlformats.org/drawingml/2006/main" name="HIMSS Main Template">
  <a:themeElements>
    <a:clrScheme name="HIMSS22">
      <a:dk1>
        <a:srgbClr val="333333"/>
      </a:dk1>
      <a:lt1>
        <a:srgbClr val="FFFFFF"/>
      </a:lt1>
      <a:dk2>
        <a:srgbClr val="20145E"/>
      </a:dk2>
      <a:lt2>
        <a:srgbClr val="777777"/>
      </a:lt2>
      <a:accent1>
        <a:srgbClr val="1E22AA"/>
      </a:accent1>
      <a:accent2>
        <a:srgbClr val="55C1E9"/>
      </a:accent2>
      <a:accent3>
        <a:srgbClr val="FF5959"/>
      </a:accent3>
      <a:accent4>
        <a:srgbClr val="3CD5AF"/>
      </a:accent4>
      <a:accent5>
        <a:srgbClr val="FFC72C"/>
      </a:accent5>
      <a:accent6>
        <a:srgbClr val="D064CE"/>
      </a:accent6>
      <a:hlink>
        <a:srgbClr val="20145F"/>
      </a:hlink>
      <a:folHlink>
        <a:srgbClr val="BFBFB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HIMSS_Powerpoint" id="{02F49452-A24F-E947-B927-5A8A0C6DACE2}" vid="{22F9A577-ABF8-6944-901B-C9DA339A83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49EE0787A77644AA0D11A6C114A91C" ma:contentTypeVersion="15" ma:contentTypeDescription="Create a new document." ma:contentTypeScope="" ma:versionID="27e3758576ced6b1e72f691dc8918402">
  <xsd:schema xmlns:xsd="http://www.w3.org/2001/XMLSchema" xmlns:xs="http://www.w3.org/2001/XMLSchema" xmlns:p="http://schemas.microsoft.com/office/2006/metadata/properties" xmlns:ns2="365c6203-8321-42df-b734-729f8418f4bb" xmlns:ns3="7a6263fe-81fc-4fcb-85be-89ec3fd9e9f9" targetNamespace="http://schemas.microsoft.com/office/2006/metadata/properties" ma:root="true" ma:fieldsID="22ccad93b0367430a54f3967d3581d9a" ns2:_="" ns3:_="">
    <xsd:import namespace="365c6203-8321-42df-b734-729f8418f4bb"/>
    <xsd:import namespace="7a6263fe-81fc-4fcb-85be-89ec3fd9e9f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5c6203-8321-42df-b734-729f8418f4b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c0606b-8e5a-4aee-a68c-f4efcab0e8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263fe-81fc-4fcb-85be-89ec3fd9e9f9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fbde290-61d9-4888-92f6-4abd941b5e33}" ma:internalName="TaxCatchAll" ma:showField="CatchAllData" ma:web="7a6263fe-81fc-4fcb-85be-89ec3fd9e9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263fe-81fc-4fcb-85be-89ec3fd9e9f9" xsi:nil="true"/>
    <lcf76f155ced4ddcb4097134ff3c332f xmlns="365c6203-8321-42df-b734-729f8418f4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914AC0F-A686-4265-A836-5AC8737B67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DF091C-DBA6-419D-BEAD-13AA501465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5c6203-8321-42df-b734-729f8418f4bb"/>
    <ds:schemaRef ds:uri="7a6263fe-81fc-4fcb-85be-89ec3fd9e9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B6ACE0-ECAA-4A34-B506-646ED0C65554}">
  <ds:schemaRefs>
    <ds:schemaRef ds:uri="7a6263fe-81fc-4fcb-85be-89ec3fd9e9f9"/>
    <ds:schemaRef ds:uri="365c6203-8321-42df-b734-729f8418f4b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16290</TotalTime>
  <Words>674</Words>
  <Application>Microsoft Office PowerPoint</Application>
  <PresentationFormat>Widescreen</PresentationFormat>
  <Paragraphs>92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Montserrat</vt:lpstr>
      <vt:lpstr>Prometo Medium</vt:lpstr>
      <vt:lpstr>Century Gothic</vt:lpstr>
      <vt:lpstr>Calibri</vt:lpstr>
      <vt:lpstr>HIMSS Main Template</vt:lpstr>
      <vt:lpstr>PowerPoint Presentation</vt:lpstr>
      <vt:lpstr>Welcome</vt:lpstr>
      <vt:lpstr>PowerPoint Presentation</vt:lpstr>
      <vt:lpstr>PowerPoint Presentation</vt:lpstr>
      <vt:lpstr>What is HealthRate?</vt:lpstr>
      <vt:lpstr>Who Uses HealthRate &amp; What Does it Cost?</vt:lpstr>
      <vt:lpstr>How Does HealthRate Do It?</vt:lpstr>
      <vt:lpstr>PowerPoint Presentation</vt:lpstr>
      <vt:lpstr>How Do I Get Started?</vt:lpstr>
      <vt:lpstr>Thank You!</vt:lpstr>
    </vt:vector>
  </TitlesOfParts>
  <Manager/>
  <Company>HIMSS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Tim</dc:creator>
  <cp:keywords/>
  <dc:description/>
  <cp:lastModifiedBy>Jeff Sage</cp:lastModifiedBy>
  <cp:revision>246</cp:revision>
  <dcterms:created xsi:type="dcterms:W3CDTF">2019-10-16T19:16:43Z</dcterms:created>
  <dcterms:modified xsi:type="dcterms:W3CDTF">2025-12-16T23:45:14Z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0x0101000D49EE0787A77644AA0D11A6C114A91C</vt:lpwstr>
  </property>
  <property fmtid="{D5CDD505-2E9C-101B-9397-08002B2CF9AE}" pid="3" name="MSIP_Label_2bbab825-a111-45e4-86a1-18cee0005896_Enabled">
    <vt:lpwstr>true</vt:lpwstr>
  </property>
  <property fmtid="{D5CDD505-2E9C-101B-9397-08002B2CF9AE}" pid="4" name="MSIP_Label_2bbab825-a111-45e4-86a1-18cee0005896_SetDate">
    <vt:lpwstr>2024-01-31T22:07:04Z</vt:lpwstr>
  </property>
  <property fmtid="{D5CDD505-2E9C-101B-9397-08002B2CF9AE}" pid="5" name="MSIP_Label_2bbab825-a111-45e4-86a1-18cee0005896_Method">
    <vt:lpwstr>Standard</vt:lpwstr>
  </property>
  <property fmtid="{D5CDD505-2E9C-101B-9397-08002B2CF9AE}" pid="6" name="MSIP_Label_2bbab825-a111-45e4-86a1-18cee0005896_Name">
    <vt:lpwstr>2bbab825-a111-45e4-86a1-18cee0005896</vt:lpwstr>
  </property>
  <property fmtid="{D5CDD505-2E9C-101B-9397-08002B2CF9AE}" pid="7" name="MSIP_Label_2bbab825-a111-45e4-86a1-18cee0005896_SiteId">
    <vt:lpwstr>2567d566-604c-408a-8a60-55d0dc9d9d6b</vt:lpwstr>
  </property>
  <property fmtid="{D5CDD505-2E9C-101B-9397-08002B2CF9AE}" pid="8" name="MSIP_Label_2bbab825-a111-45e4-86a1-18cee0005896_ActionId">
    <vt:lpwstr>00383c95-0f3e-4434-98af-4cd18e673785</vt:lpwstr>
  </property>
  <property fmtid="{D5CDD505-2E9C-101B-9397-08002B2CF9AE}" pid="9" name="MSIP_Label_2bbab825-a111-45e4-86a1-18cee0005896_ContentBits">
    <vt:lpwstr>2</vt:lpwstr>
  </property>
  <property fmtid="{D5CDD505-2E9C-101B-9397-08002B2CF9AE}" pid="10" name="ClassificationContentMarkingFooterLocations">
    <vt:lpwstr>HIMSS Main Template:9</vt:lpwstr>
  </property>
  <property fmtid="{D5CDD505-2E9C-101B-9397-08002B2CF9AE}" pid="11" name="ClassificationContentMarkingFooterText">
    <vt:lpwstr>Information Classification: General</vt:lpwstr>
  </property>
  <property fmtid="{D5CDD505-2E9C-101B-9397-08002B2CF9AE}" pid="12" name="MediaServiceImageTags">
    <vt:lpwstr/>
  </property>
</Properties>
</file>