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618" r:id="rId5"/>
    <p:sldId id="3604" r:id="rId6"/>
    <p:sldId id="3609" r:id="rId7"/>
    <p:sldId id="3580" r:id="rId8"/>
    <p:sldId id="3607" r:id="rId9"/>
    <p:sldId id="3598" r:id="rId10"/>
    <p:sldId id="3608" r:id="rId11"/>
    <p:sldId id="2666" r:id="rId12"/>
    <p:sldId id="3606" r:id="rId13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36" userDrawn="1">
          <p15:clr>
            <a:srgbClr val="A4A3A4"/>
          </p15:clr>
        </p15:guide>
        <p15:guide id="4" pos="14777" userDrawn="1">
          <p15:clr>
            <a:srgbClr val="A4A3A4"/>
          </p15:clr>
        </p15:guide>
        <p15:guide id="6" pos="557" userDrawn="1">
          <p15:clr>
            <a:srgbClr val="A4A3A4"/>
          </p15:clr>
        </p15:guide>
        <p15:guide id="8" orient="horz" pos="504" userDrawn="1">
          <p15:clr>
            <a:srgbClr val="A4A3A4"/>
          </p15:clr>
        </p15:guide>
        <p15:guide id="10" pos="6998" userDrawn="1">
          <p15:clr>
            <a:srgbClr val="A4A3A4"/>
          </p15:clr>
        </p15:guide>
        <p15:guide id="11" orient="horz" pos="43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dim Dianov" initials="VD" lastIdx="0" clrIdx="0">
    <p:extLst>
      <p:ext uri="{19B8F6BF-5375-455C-9EA6-DF929625EA0E}">
        <p15:presenceInfo xmlns:p15="http://schemas.microsoft.com/office/powerpoint/2012/main" userId="c0e40506cef35c63" providerId="Windows Live"/>
      </p:ext>
    </p:extLst>
  </p:cmAuthor>
  <p:cmAuthor id="2" name="Tim Michaels" initials="tm" lastIdx="1" clrIdx="1">
    <p:extLst>
      <p:ext uri="{19B8F6BF-5375-455C-9EA6-DF929625EA0E}">
        <p15:presenceInfo xmlns:p15="http://schemas.microsoft.com/office/powerpoint/2012/main" userId="184c5367642d7a9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9EE"/>
    <a:srgbClr val="2960A1"/>
    <a:srgbClr val="336600"/>
    <a:srgbClr val="29407E"/>
    <a:srgbClr val="97B8CD"/>
    <a:srgbClr val="4B5050"/>
    <a:srgbClr val="7294C0"/>
    <a:srgbClr val="81878D"/>
    <a:srgbClr val="C3C8D4"/>
    <a:srgbClr val="2A6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88184" autoAdjust="0"/>
  </p:normalViewPr>
  <p:slideViewPr>
    <p:cSldViewPr snapToObjects="1">
      <p:cViewPr varScale="1">
        <p:scale>
          <a:sx n="47" d="100"/>
          <a:sy n="47" d="100"/>
        </p:scale>
        <p:origin x="960" y="78"/>
      </p:cViewPr>
      <p:guideLst>
        <p:guide orient="horz" pos="8136"/>
        <p:guide pos="14777"/>
        <p:guide pos="557"/>
        <p:guide orient="horz" pos="504"/>
        <p:guide pos="6998"/>
        <p:guide orient="horz" pos="43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2" d="100"/>
        <a:sy n="52" d="100"/>
      </p:scale>
      <p:origin x="0" y="0"/>
    </p:cViewPr>
  </p:sorterViewPr>
  <p:notesViewPr>
    <p:cSldViewPr snapToObjects="1" showGuides="1">
      <p:cViewPr varScale="1">
        <p:scale>
          <a:sx n="87" d="100"/>
          <a:sy n="87" d="100"/>
        </p:scale>
        <p:origin x="2982" y="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7A611-2048-4605-8D03-E3095CC75915}" type="datetimeFigureOut">
              <a:rPr lang="ru-RU" smtClean="0"/>
              <a:pPr/>
              <a:t>19.03.2025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5B5DF-ECC1-4884-9553-BC4B4E4A44C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53559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 Light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 Light"/>
              </a:defRPr>
            </a:lvl1pPr>
          </a:lstStyle>
          <a:p>
            <a:fld id="{EFC10EE1-B198-C942-8235-326C972CBB30}" type="datetimeFigureOut">
              <a:rPr lang="en-US" smtClean="0"/>
              <a:pPr/>
              <a:t>3/19/2025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 Light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 Light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1pPr>
    <a:lvl2pPr marL="914217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2pPr>
    <a:lvl3pPr marL="1828434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3pPr>
    <a:lvl4pPr marL="2742651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4pPr>
    <a:lvl5pPr marL="3656868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F5DD9-72C6-11B8-8466-847E6719C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3A5AE0-C610-90A6-F5ED-F69F5560F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CAAAAE-0244-19F1-CE02-2ED97FD6C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96758-B5A9-C648-AA44-D34633CA23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851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4505D-957A-5304-DDFF-D0CE8458E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27D7F2-A33C-0FC7-3A93-B90037995F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A14BFC-A201-F51A-8CB6-05DB8C2F3D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DD20E-6C71-AE52-0C72-4B004E7D5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273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726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53D71-5E7B-63BE-2D06-939CC905B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F4E287-C104-10B7-39EF-B162D1F8C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584CBA-468D-62CE-66AE-F114305E1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02346-AAEE-289F-EBE8-C25D089338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661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2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604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solidFill>
                <a:schemeClr val="tx2"/>
              </a:solidFill>
              <a:latin typeface="Hind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221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6406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93D4D-3E14-DB93-7DDF-101717F02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DF7E90-0505-79A7-B626-8BF27F256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9F8D06-DE28-5575-6B29-526FF909F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3C42D-2873-75AD-B36B-07351FE90A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520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2541E0-F91B-4F74-BE17-E965478025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04695" y="1002890"/>
            <a:ext cx="22168260" cy="1171022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3928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855E5DE-5421-4B8C-A881-46EF8A6EBE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321552" y="4876653"/>
            <a:ext cx="6056097" cy="883934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68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276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C70A35-E71E-4E02-873B-6EB2710FF2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97024" y="9525000"/>
            <a:ext cx="18135599" cy="4191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3360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04424A9-01FF-43A9-B69C-9227F17289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9732621" cy="685799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48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F595E-0799-4278-ACD9-2BD69540AF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88825" y="0"/>
            <a:ext cx="12188826" cy="6862486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9141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E5ED7C-9622-4AEA-A4E8-BE585D6842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6862489"/>
            <a:ext cx="12188825" cy="6853511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486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263553D-4BE0-469E-AF3F-1C864ECFBD0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33178" y="5612102"/>
            <a:ext cx="12155846" cy="810389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917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2862D51-B2C9-4DA3-9FC1-5CA10F2978C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551025" y="5650202"/>
            <a:ext cx="9826624" cy="806579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1A9656-62A9-4578-BB7E-29CF845ED2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33178" y="0"/>
            <a:ext cx="12155846" cy="810389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685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32A35DB-8F4B-4D00-9035-84F3C73D34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551026" y="0"/>
            <a:ext cx="9826623" cy="806579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EB10E16D-A608-44ED-8BE4-71118290741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0002" y="5650202"/>
            <a:ext cx="12155846" cy="806579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7957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84032D-3ADE-4F68-AA96-2267242106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93927" y="0"/>
            <a:ext cx="9483722" cy="7907726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C0D2747-9C40-4FFA-B222-31B7204DB6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174" y="7907726"/>
            <a:ext cx="14897101" cy="584637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580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23B3977-E7BC-4867-B2CC-7C1870487A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93928" y="-1"/>
            <a:ext cx="9483722" cy="1371599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7023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56DB90-15F5-4E36-B1DA-68553C9D96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" y="0"/>
            <a:ext cx="8125883" cy="1371599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A86C16D2-60C4-4B5B-9DFA-AFAD735AF9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22706" y="0"/>
            <a:ext cx="8125883" cy="1371599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54505227-3902-416C-A115-6737AFD8A7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242237" y="0"/>
            <a:ext cx="8125883" cy="1371599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979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CAD776-EC6F-4E01-93DA-D1A4F037A3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77649" cy="13716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4035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978F8A87-0D3C-4835-8E94-C1463994A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56102" y="5637016"/>
            <a:ext cx="2819400" cy="28194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6BDA02A8-EBDE-43F7-B6B4-081CDC3A0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428202" y="5637016"/>
            <a:ext cx="2819400" cy="28194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B00EC06-B140-4D08-B5A1-D063A74088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782379" y="5637016"/>
            <a:ext cx="2819400" cy="28194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1E58582-3F38-481E-8D39-56EC30CC1F5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84002" y="5637016"/>
            <a:ext cx="2819400" cy="28194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97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6198788-AFF9-4E05-AF04-93C319F5A6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293224" y="5562599"/>
            <a:ext cx="5948723" cy="601979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405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95BA1982-CA78-4EAD-B0C7-1F10B49BCE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87625" y="5198806"/>
            <a:ext cx="4761104" cy="4761104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80D0BE03-0C95-4B1D-9413-075B157AF0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89466" y="5198806"/>
            <a:ext cx="4761104" cy="4761104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EF9CA010-7949-4D55-82C5-9EB5F0FED3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863373" y="5198806"/>
            <a:ext cx="4761104" cy="4761104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9525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36A8E1AD-FE8D-45ED-9E36-0AF203FCB9E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13598" y="9670209"/>
            <a:ext cx="6905831" cy="4045791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9671896-D212-4472-A852-0977E24BD5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13598" y="2136358"/>
            <a:ext cx="6905831" cy="700005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5246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619F66-3045-482D-88E2-498AA5492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27598" y="2136358"/>
            <a:ext cx="6801261" cy="700005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45CED58F-5EA6-41DD-975C-60743164C7A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27598" y="9670208"/>
            <a:ext cx="6801261" cy="4045791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7AE6F5BB-583C-4B57-A9FB-5C629A661B0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83625" y="-1"/>
            <a:ext cx="6905831" cy="4045791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BD5E161B-6F6D-4BB6-9B4C-9B11C4E82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83625" y="4648199"/>
            <a:ext cx="6905831" cy="700005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314FF0B3-9C12-49DC-83C1-8225671AA87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6188761" y="6715945"/>
            <a:ext cx="6961291" cy="700005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0887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9354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A872C2F-3B91-46A9-A6CC-C330C416F9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721166" y="5105400"/>
            <a:ext cx="10062633" cy="461733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39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158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243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175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7807C14F-612F-4675-A089-63309D9063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81540" y="5334000"/>
            <a:ext cx="2819400" cy="28194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5CB003F4-1FE6-4A32-8E58-96D59564427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693980" y="5334000"/>
            <a:ext cx="2819400" cy="28194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2A3BCA8E-278E-4D11-9061-CF8CFBD3256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9504025" y="5334000"/>
            <a:ext cx="2819400" cy="28194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A9911017-6505-479D-B737-303F5874C8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22948" y="5334000"/>
            <a:ext cx="2819400" cy="28194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390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D4C8474-F9BE-4982-B030-37F00DC4D2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27598" y="5181600"/>
            <a:ext cx="5932027" cy="85344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B2791291-4CD9-4E06-9C70-8E49E6516C1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16825" y="5181600"/>
            <a:ext cx="6905831" cy="4045791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A1F02F1A-6B64-4365-97B7-888596FB333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16825" y="9682499"/>
            <a:ext cx="6905831" cy="4045791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7347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56F16-849C-4FF9-A318-417A0C5A5D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229600"/>
            <a:ext cx="14703425" cy="54864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9168C00-D8B4-414B-9B79-FBE808B680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703425" y="8229600"/>
            <a:ext cx="9674225" cy="54864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39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E33A957-C247-48D7-858D-A2EAEB6070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6521450"/>
            <a:ext cx="24377649" cy="620395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039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F15F30-5DBA-4C9B-9775-1C484D294C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825" cy="13716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327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870F393-B412-4349-81C4-9EF38EA6F8D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31426" y="1"/>
            <a:ext cx="4748741" cy="688630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8451B18B-CC22-4B76-90BF-A240F861EB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866442" y="1"/>
            <a:ext cx="4748741" cy="688630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306222A2-FDE9-4339-AF08-2AF35575598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615183" y="1"/>
            <a:ext cx="4748741" cy="688630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9218540F-2D8F-41A8-B019-D548E57A3C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1426" y="6849438"/>
            <a:ext cx="4748741" cy="688630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1" name="Picture Placeholder 16">
            <a:extLst>
              <a:ext uri="{FF2B5EF4-FFF2-40B4-BE49-F238E27FC236}">
                <a16:creationId xmlns:a16="http://schemas.microsoft.com/office/drawing/2014/main" id="{81DDC64E-7B56-45E5-9EB7-46506B9A68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66442" y="6849438"/>
            <a:ext cx="4748741" cy="688630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2" name="Picture Placeholder 16">
            <a:extLst>
              <a:ext uri="{FF2B5EF4-FFF2-40B4-BE49-F238E27FC236}">
                <a16:creationId xmlns:a16="http://schemas.microsoft.com/office/drawing/2014/main" id="{D5338737-1448-4738-8EEA-3DD38FF9EA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615183" y="6849438"/>
            <a:ext cx="4748741" cy="688630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412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78C6ADA-C909-43EA-8913-C94440D933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4714635" cy="688630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965767CC-48F1-4E87-BB2B-375CA7C262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442995" y="-1"/>
            <a:ext cx="4714635" cy="688630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4D19B77-8EAA-4EE6-A24E-4C717472AE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42995" y="6819858"/>
            <a:ext cx="4714635" cy="688630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2C7DDE43-46FE-49DA-90F2-1C7A0F0115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48741" y="6819858"/>
            <a:ext cx="4714635" cy="688630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8113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723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34BB91F-C55C-4299-8881-CFE7CC581A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15844" y="4837471"/>
            <a:ext cx="7049729" cy="751709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23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DF9F98-D129-4DBB-B407-BCAF037790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303625" y="5638800"/>
            <a:ext cx="6477000" cy="64770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0545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E0E937F-0A59-42EA-9103-2C27A3AE24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513206" y="1752608"/>
            <a:ext cx="5333992" cy="5333992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715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F1E57512-571D-419E-AB19-74FAF92655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01875" y="5334000"/>
            <a:ext cx="2819400" cy="28194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77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690499C-F7A7-4D0C-8601-501514412E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01875" y="5334000"/>
            <a:ext cx="2819400" cy="28194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05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86B766-E8C3-4943-89FE-B9EDF22C32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44625" y="1600200"/>
            <a:ext cx="21488400" cy="105156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7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2C15069-9AD1-43B4-9B16-89B1ED7C98D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8100"/>
            <a:ext cx="12183503" cy="68199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E9718589-FEE8-44F9-8F24-EE070025312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6838950"/>
            <a:ext cx="12183503" cy="68199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5AA241C0-B873-4D3D-9EEA-6ABB3152F7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80328" y="38100"/>
            <a:ext cx="12183503" cy="68199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BC226FB-9427-413C-B4E7-8B6A7C2D0F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80328" y="6838950"/>
            <a:ext cx="12183503" cy="68199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6836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70F5AF08-639B-4925-B9DE-F81C45A12D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911862" y="2441574"/>
            <a:ext cx="8759826" cy="8759826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3190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43C0D284-04C5-478E-8AA7-BC62CDD100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441575" y="2441574"/>
            <a:ext cx="8759826" cy="8759826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1531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099BFCF7-BA11-48D6-AB39-B91ACB4112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911862" y="2441574"/>
            <a:ext cx="8759826" cy="8759826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2692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69D13A26-395C-4B03-BC38-2224210D84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441575" y="2441574"/>
            <a:ext cx="8759826" cy="8759826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53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BC37D5-9378-448F-96DA-4336598DA1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1506200"/>
            <a:ext cx="24377650" cy="22098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034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FBA6A58-302E-4D94-B220-053925CD9F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31025" y="4953000"/>
            <a:ext cx="4343400" cy="297021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234415DE-1387-470E-8B3E-C9DA9FD3C8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5025" y="4953000"/>
            <a:ext cx="4343400" cy="297021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34ED1B53-71FB-4DF7-82FF-336872A3406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123025" y="4953000"/>
            <a:ext cx="4343400" cy="297021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6C442E17-A5A1-4FBF-8F38-AAE7ADDFB2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027025" y="4953000"/>
            <a:ext cx="4343400" cy="297021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D70B17CB-A553-48B0-9445-395D1021AA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31025" y="9604469"/>
            <a:ext cx="4343400" cy="297021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05EA455C-6463-42BF-BB54-08A39517F61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5025" y="9604469"/>
            <a:ext cx="4343400" cy="297021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6201C672-6B3C-4DE8-8CBC-E3D57A7797A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9123025" y="9604469"/>
            <a:ext cx="4343400" cy="297021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1F81DC61-E170-47F9-9A8F-0B7D3A02604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3027025" y="9604469"/>
            <a:ext cx="4343400" cy="297021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4107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F8231F0-9BE9-4A13-AAEA-977CB7510C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33422" y="0"/>
            <a:ext cx="14644227" cy="6858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968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1345394-8D4F-40DB-ACCF-79724D72C8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33168" y="7401232"/>
            <a:ext cx="10065055" cy="631476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648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1D91E8B-BBA0-48A2-B764-3508B048DF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12625" y="0"/>
            <a:ext cx="8686800" cy="13716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977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C3FAB3D-E8E4-4F7D-B7DB-6BD2CB9F88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77649" cy="92964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589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EEBF73-BDB8-40DA-A6B9-42F27C8E8B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77650" cy="13716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9469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872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6134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549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986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772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44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7626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559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50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33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1C12F9-C58B-6241-A38C-852B5061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24850" cy="265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E5E7C-E6FB-8F4A-8E6A-112A66587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24850" cy="870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284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6" r:id="rId1"/>
    <p:sldLayoutId id="2147484157" r:id="rId2"/>
    <p:sldLayoutId id="2147484158" r:id="rId3"/>
    <p:sldLayoutId id="2147484159" r:id="rId4"/>
    <p:sldLayoutId id="2147484160" r:id="rId5"/>
    <p:sldLayoutId id="2147484161" r:id="rId6"/>
    <p:sldLayoutId id="2147484162" r:id="rId7"/>
    <p:sldLayoutId id="2147484163" r:id="rId8"/>
    <p:sldLayoutId id="2147484164" r:id="rId9"/>
    <p:sldLayoutId id="2147484165" r:id="rId10"/>
    <p:sldLayoutId id="2147484166" r:id="rId11"/>
    <p:sldLayoutId id="2147484167" r:id="rId12"/>
    <p:sldLayoutId id="2147484168" r:id="rId13"/>
    <p:sldLayoutId id="2147484169" r:id="rId14"/>
    <p:sldLayoutId id="2147484170" r:id="rId15"/>
    <p:sldLayoutId id="2147484171" r:id="rId16"/>
    <p:sldLayoutId id="2147484172" r:id="rId17"/>
    <p:sldLayoutId id="2147484173" r:id="rId18"/>
    <p:sldLayoutId id="2147484174" r:id="rId19"/>
    <p:sldLayoutId id="2147484175" r:id="rId20"/>
    <p:sldLayoutId id="2147484176" r:id="rId21"/>
    <p:sldLayoutId id="2147484177" r:id="rId22"/>
    <p:sldLayoutId id="2147484178" r:id="rId23"/>
    <p:sldLayoutId id="2147484179" r:id="rId24"/>
    <p:sldLayoutId id="2147484180" r:id="rId25"/>
    <p:sldLayoutId id="2147484181" r:id="rId26"/>
    <p:sldLayoutId id="2147484182" r:id="rId27"/>
    <p:sldLayoutId id="2147484183" r:id="rId28"/>
    <p:sldLayoutId id="2147484184" r:id="rId29"/>
    <p:sldLayoutId id="2147484185" r:id="rId30"/>
    <p:sldLayoutId id="2147484186" r:id="rId31"/>
    <p:sldLayoutId id="2147484187" r:id="rId32"/>
    <p:sldLayoutId id="2147484188" r:id="rId33"/>
    <p:sldLayoutId id="2147484189" r:id="rId34"/>
    <p:sldLayoutId id="2147484190" r:id="rId35"/>
    <p:sldLayoutId id="2147484191" r:id="rId36"/>
    <p:sldLayoutId id="2147484192" r:id="rId37"/>
    <p:sldLayoutId id="2147484193" r:id="rId38"/>
    <p:sldLayoutId id="2147484194" r:id="rId39"/>
    <p:sldLayoutId id="2147484195" r:id="rId40"/>
    <p:sldLayoutId id="2147484196" r:id="rId41"/>
    <p:sldLayoutId id="2147484197" r:id="rId42"/>
    <p:sldLayoutId id="2147484198" r:id="rId43"/>
    <p:sldLayoutId id="2147484199" r:id="rId44"/>
    <p:sldLayoutId id="2147484200" r:id="rId45"/>
    <p:sldLayoutId id="2147484201" r:id="rId46"/>
    <p:sldLayoutId id="2147484202" r:id="rId47"/>
    <p:sldLayoutId id="2147484203" r:id="rId48"/>
    <p:sldLayoutId id="2147484204" r:id="rId49"/>
    <p:sldLayoutId id="2147484205" r:id="rId50"/>
    <p:sldLayoutId id="2147484206" r:id="rId51"/>
    <p:sldLayoutId id="2147484207" r:id="rId52"/>
    <p:sldLayoutId id="2147484208" r:id="rId53"/>
    <p:sldLayoutId id="2147484209" r:id="rId54"/>
    <p:sldLayoutId id="2147484210" r:id="rId55"/>
    <p:sldLayoutId id="2147484211" r:id="rId56"/>
    <p:sldLayoutId id="2147484212" r:id="rId57"/>
    <p:sldLayoutId id="2147484213" r:id="rId58"/>
    <p:sldLayoutId id="2147484214" r:id="rId59"/>
    <p:sldLayoutId id="2147484215" r:id="rId60"/>
  </p:sldLayoutIdLst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hf hdr="0" ftr="0" dt="0"/>
  <p:txStyles>
    <p:titleStyle>
      <a:lvl1pPr algn="l" defTabSz="1828434" rtl="0" eaLnBrk="1" latinLnBrk="0" hangingPunct="1">
        <a:lnSpc>
          <a:spcPct val="90000"/>
        </a:lnSpc>
        <a:spcBef>
          <a:spcPct val="0"/>
        </a:spcBef>
        <a:buNone/>
        <a:defRPr lang="en-US" sz="6000" b="0" i="0" kern="1200">
          <a:solidFill>
            <a:schemeClr val="tx1"/>
          </a:solidFill>
          <a:latin typeface="Charter Roman" panose="02040503050506020203" pitchFamily="18" charset="0"/>
          <a:ea typeface="Charter Roman" panose="02040503050506020203" pitchFamily="18" charset="0"/>
          <a:cs typeface="Charter Roman" panose="02040503050506020203" pitchFamily="18" charset="0"/>
        </a:defRPr>
      </a:lvl1pPr>
    </p:titleStyle>
    <p:bodyStyle>
      <a:lvl1pPr marL="457109" indent="-457109" algn="l" defTabSz="1828434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lang="en-US" sz="4800" b="0" i="0" kern="1200" dirty="0" smtClean="0">
          <a:solidFill>
            <a:schemeClr val="tx1"/>
          </a:solidFill>
          <a:effectLst/>
          <a:latin typeface="Charter Roman" panose="02040503050506020203" pitchFamily="18" charset="0"/>
          <a:ea typeface="Charter Roman" panose="02040503050506020203" pitchFamily="18" charset="0"/>
          <a:cs typeface="Charter Roman" panose="02040503050506020203" pitchFamily="18" charset="0"/>
        </a:defRPr>
      </a:lvl1pPr>
      <a:lvl2pPr marL="137132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4000" b="1" i="0" kern="1200" spc="300" dirty="0" smtClean="0">
          <a:solidFill>
            <a:schemeClr val="tx1"/>
          </a:solidFill>
          <a:effectLst/>
          <a:latin typeface="Montserrat SemiBold" pitchFamily="2" charset="77"/>
          <a:ea typeface="Montserrat SemiBold" pitchFamily="2" charset="77"/>
          <a:cs typeface="Montserrat SemiBold" pitchFamily="2" charset="77"/>
        </a:defRPr>
      </a:lvl2pPr>
      <a:lvl3pPr marL="2285543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600" b="0" i="0" kern="1200" dirty="0" smtClean="0">
          <a:solidFill>
            <a:schemeClr val="tx1"/>
          </a:solidFill>
          <a:effectLst/>
          <a:latin typeface="Montserrat" pitchFamily="2" charset="77"/>
          <a:ea typeface="Montserrat" pitchFamily="2" charset="77"/>
          <a:cs typeface="Montserrat" pitchFamily="2" charset="77"/>
        </a:defRPr>
      </a:lvl3pPr>
      <a:lvl4pPr marL="3199760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200" b="0" i="0" kern="1200" dirty="0" smtClean="0">
          <a:solidFill>
            <a:schemeClr val="tx1"/>
          </a:solidFill>
          <a:effectLst/>
          <a:latin typeface="Montserrat" pitchFamily="2" charset="77"/>
          <a:ea typeface="Montserrat" pitchFamily="2" charset="77"/>
          <a:cs typeface="Montserrat" pitchFamily="2" charset="77"/>
        </a:defRPr>
      </a:lvl4pPr>
      <a:lvl5pPr marL="4113977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200" b="0" i="0" kern="1200" dirty="0">
          <a:solidFill>
            <a:schemeClr val="tx1"/>
          </a:solidFill>
          <a:effectLst/>
          <a:latin typeface="Montserrat" pitchFamily="2" charset="77"/>
          <a:ea typeface="Montserrat" pitchFamily="2" charset="77"/>
          <a:cs typeface="Montserrat" pitchFamily="2" charset="77"/>
        </a:defRPr>
      </a:lvl5pPr>
      <a:lvl6pPr marL="5028194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2411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6628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084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21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434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651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6868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086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303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952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373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Relationship Id="rId6" Type="http://schemas.openxmlformats.org/officeDocument/2006/relationships/hyperlink" Target="http://www.healthrate.io/" TargetMode="Externa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CA959C5-9945-91AE-8D73-F2CBBCC846E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A close-up of several cylinders">
            <a:extLst>
              <a:ext uri="{FF2B5EF4-FFF2-40B4-BE49-F238E27FC236}">
                <a16:creationId xmlns:a16="http://schemas.microsoft.com/office/drawing/2014/main" id="{A20BA6F4-E56A-2157-79E8-CB42AE432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95" y="1084700"/>
            <a:ext cx="22167850" cy="11693529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C545E928-07AB-4C78-A559-3B0F775EC95C}"/>
              </a:ext>
            </a:extLst>
          </p:cNvPr>
          <p:cNvGrpSpPr/>
          <p:nvPr/>
        </p:nvGrpSpPr>
        <p:grpSpPr>
          <a:xfrm>
            <a:off x="2130422" y="5809100"/>
            <a:ext cx="20116802" cy="6306699"/>
            <a:chOff x="6550024" y="4343400"/>
            <a:chExt cx="11277601" cy="5029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FDBE01-DE4A-47F0-8F00-9E65C175295C}"/>
                </a:ext>
              </a:extLst>
            </p:cNvPr>
            <p:cNvSpPr/>
            <p:nvPr/>
          </p:nvSpPr>
          <p:spPr>
            <a:xfrm>
              <a:off x="6550025" y="4343400"/>
              <a:ext cx="11277600" cy="5029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02A7E7D-709C-44A5-A604-FE30F7CF7BD6}"/>
                </a:ext>
              </a:extLst>
            </p:cNvPr>
            <p:cNvSpPr txBox="1"/>
            <p:nvPr/>
          </p:nvSpPr>
          <p:spPr>
            <a:xfrm>
              <a:off x="6550024" y="5389429"/>
              <a:ext cx="11277600" cy="25853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b="1" spc="300" dirty="0">
                  <a:solidFill>
                    <a:schemeClr val="bg1"/>
                  </a:solidFill>
                  <a:latin typeface="Montserrat SemiBold" pitchFamily="2" charset="77"/>
                </a:rPr>
                <a:t>REIMBURSEMENT </a:t>
              </a:r>
            </a:p>
            <a:p>
              <a:pPr algn="ctr"/>
              <a:r>
                <a:rPr lang="en-US" sz="5400" b="1" spc="300" dirty="0">
                  <a:solidFill>
                    <a:schemeClr val="bg1"/>
                  </a:solidFill>
                  <a:latin typeface="Montserrat SemiBold" pitchFamily="2" charset="77"/>
                </a:rPr>
                <a:t>MODELING &amp; DECISION </a:t>
              </a:r>
            </a:p>
            <a:p>
              <a:pPr algn="ctr"/>
              <a:r>
                <a:rPr lang="en-US" sz="5400" b="1" spc="300" dirty="0">
                  <a:solidFill>
                    <a:schemeClr val="bg1"/>
                  </a:solidFill>
                  <a:latin typeface="Montserrat SemiBold" pitchFamily="2" charset="77"/>
                </a:rPr>
                <a:t>SUPPORT</a:t>
              </a:r>
              <a:endParaRPr lang="ru-RU" sz="5400" b="1" kern="100" spc="300" dirty="0">
                <a:solidFill>
                  <a:schemeClr val="bg1"/>
                </a:solidFill>
                <a:latin typeface="Montserrat SemiBold" pitchFamily="2" charset="7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52B0990-00ED-4E77-AB68-9393E67D98CE}"/>
                </a:ext>
              </a:extLst>
            </p:cNvPr>
            <p:cNvSpPr txBox="1"/>
            <p:nvPr/>
          </p:nvSpPr>
          <p:spPr>
            <a:xfrm>
              <a:off x="6550024" y="8863273"/>
              <a:ext cx="11277600" cy="387798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350" kern="100" spc="600" dirty="0">
                  <a:solidFill>
                    <a:schemeClr val="bg1"/>
                  </a:solidFill>
                  <a:latin typeface="Montserrat Medium" panose="00000600000000000000" pitchFamily="50" charset="-52"/>
                </a:rPr>
                <a:t>DATA DRIVEN; AI ENABLED REIMBURSEMENT &amp; PAYMENT OPTIMIZATION</a:t>
              </a:r>
              <a:endParaRPr lang="ru-RU" sz="2350" kern="100" spc="600" dirty="0">
                <a:solidFill>
                  <a:schemeClr val="bg1"/>
                </a:solidFill>
                <a:latin typeface="Montserrat Medium" panose="00000600000000000000" pitchFamily="50" charset="-52"/>
              </a:endParaRPr>
            </a:p>
          </p:txBody>
        </p:sp>
      </p:grpSp>
      <p:pic>
        <p:nvPicPr>
          <p:cNvPr id="13" name="Picture 12" descr="A blue cross with a graph in a circle&#10;&#10;Description automatically generated">
            <a:extLst>
              <a:ext uri="{FF2B5EF4-FFF2-40B4-BE49-F238E27FC236}">
                <a16:creationId xmlns:a16="http://schemas.microsoft.com/office/drawing/2014/main" id="{0283E8A9-4566-7F4D-8B14-FBE738CEB7E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8428" y="2499377"/>
            <a:ext cx="3380790" cy="33097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0806BC7-5925-7740-9FE7-4EDBCC2EE0C1}"/>
              </a:ext>
            </a:extLst>
          </p:cNvPr>
          <p:cNvSpPr txBox="1"/>
          <p:nvPr/>
        </p:nvSpPr>
        <p:spPr>
          <a:xfrm>
            <a:off x="18062294" y="240193"/>
            <a:ext cx="6070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kern="0" dirty="0">
                <a:solidFill>
                  <a:schemeClr val="tx2"/>
                </a:solidFill>
                <a:latin typeface="Montserrat" pitchFamily="2" charset="77"/>
              </a:rPr>
              <a:t>PROPRIETARY AND CONFIDENTIAL</a:t>
            </a:r>
            <a:endParaRPr lang="en-US" dirty="0">
              <a:solidFill>
                <a:schemeClr val="tx2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10272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DAD62-97E6-0DB0-CFC9-ED2093F04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7300D3F-1528-B68A-2AF5-16AD4C3730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8825" y="4478097"/>
            <a:ext cx="11522371" cy="6723303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0D403BDC-C0E1-32CB-A718-722D490CF7C1}"/>
              </a:ext>
            </a:extLst>
          </p:cNvPr>
          <p:cNvSpPr/>
          <p:nvPr/>
        </p:nvSpPr>
        <p:spPr>
          <a:xfrm>
            <a:off x="-7296" y="6178"/>
            <a:ext cx="11586521" cy="137098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CB00E7-A39B-DD8B-6012-F5EC397365D1}"/>
              </a:ext>
            </a:extLst>
          </p:cNvPr>
          <p:cNvSpPr txBox="1"/>
          <p:nvPr/>
        </p:nvSpPr>
        <p:spPr>
          <a:xfrm>
            <a:off x="18062294" y="240193"/>
            <a:ext cx="6070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kern="0" dirty="0">
                <a:solidFill>
                  <a:schemeClr val="tx2"/>
                </a:solidFill>
                <a:latin typeface="Montserrat" pitchFamily="2" charset="77"/>
              </a:rPr>
              <a:t>PROPRIETARY AND CONFIDENTIAL</a:t>
            </a:r>
            <a:endParaRPr lang="en-US" dirty="0">
              <a:solidFill>
                <a:schemeClr val="tx2"/>
              </a:solidFill>
              <a:latin typeface="Montserrat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169129-865D-ADE1-6631-7D6FD1222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2802" y="4756059"/>
            <a:ext cx="8918724" cy="56662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F6031F-E36B-BCE9-0479-6B1226C954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84225" y="4782312"/>
            <a:ext cx="8944165" cy="57332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960E9F-F732-4DAF-4226-D58DBB612507}"/>
              </a:ext>
            </a:extLst>
          </p:cNvPr>
          <p:cNvSpPr txBox="1"/>
          <p:nvPr/>
        </p:nvSpPr>
        <p:spPr>
          <a:xfrm>
            <a:off x="1368425" y="4478097"/>
            <a:ext cx="9832975" cy="539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3200" i="1" kern="0" dirty="0">
                <a:solidFill>
                  <a:srgbClr val="29407E"/>
                </a:solidFill>
                <a:latin typeface="Montserrat" pitchFamily="2" charset="77"/>
              </a:rPr>
              <a:t>An Award-Winning* SaaS platform that provides the best pricing for high-cost claims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US" sz="3200" i="1" kern="0" dirty="0">
              <a:solidFill>
                <a:srgbClr val="29407E"/>
              </a:solidFill>
              <a:latin typeface="Montserrat" pitchFamily="2" charset="77"/>
            </a:endParaRPr>
          </a:p>
          <a:p>
            <a:pPr marL="457200" lvl="2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i="1" kern="0" dirty="0">
                <a:solidFill>
                  <a:srgbClr val="29407E"/>
                </a:solidFill>
                <a:latin typeface="Montserrat" pitchFamily="2" charset="77"/>
              </a:rPr>
              <a:t>No impact to quality</a:t>
            </a:r>
          </a:p>
          <a:p>
            <a:pPr marL="457200" lvl="2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i="1" kern="0" dirty="0">
                <a:solidFill>
                  <a:srgbClr val="29407E"/>
                </a:solidFill>
                <a:latin typeface="Montserrat" pitchFamily="2" charset="77"/>
              </a:rPr>
              <a:t>No provider abrasion</a:t>
            </a:r>
          </a:p>
          <a:p>
            <a:pPr marL="457200" lvl="2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i="1" kern="0" dirty="0">
                <a:solidFill>
                  <a:srgbClr val="29407E"/>
                </a:solidFill>
                <a:latin typeface="Montserrat" pitchFamily="2" charset="77"/>
              </a:rPr>
              <a:t>No patient intervention required</a:t>
            </a:r>
          </a:p>
          <a:p>
            <a:pPr marL="457200" lvl="2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i="1" kern="0" dirty="0">
                <a:solidFill>
                  <a:srgbClr val="29407E"/>
                </a:solidFill>
                <a:latin typeface="Montserrat" pitchFamily="2" charset="77"/>
              </a:rPr>
              <a:t>No claims auditing or cash recovery</a:t>
            </a:r>
          </a:p>
          <a:p>
            <a:pPr marL="457200" lvl="2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3200" i="1" kern="0" dirty="0">
              <a:solidFill>
                <a:srgbClr val="29407E"/>
              </a:solidFill>
              <a:latin typeface="Montserrat" pitchFamily="2" charset="77"/>
            </a:endParaRPr>
          </a:p>
          <a:p>
            <a:endParaRPr lang="en-US" sz="2400" i="1" dirty="0">
              <a:solidFill>
                <a:srgbClr val="000000"/>
              </a:solidFill>
              <a:latin typeface="Montserrat" panose="00000500000000000000" pitchFamily="50" charset="-52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6F3427C-3158-F714-8607-5D05E44A61A0}"/>
              </a:ext>
            </a:extLst>
          </p:cNvPr>
          <p:cNvGrpSpPr/>
          <p:nvPr/>
        </p:nvGrpSpPr>
        <p:grpSpPr>
          <a:xfrm>
            <a:off x="1593850" y="1676400"/>
            <a:ext cx="8842376" cy="1933039"/>
            <a:chOff x="2701925" y="2254984"/>
            <a:chExt cx="10325100" cy="193303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7EA23F-16F1-895A-6A97-9CB0E172558A}"/>
                </a:ext>
              </a:extLst>
            </p:cNvPr>
            <p:cNvSpPr txBox="1"/>
            <p:nvPr/>
          </p:nvSpPr>
          <p:spPr>
            <a:xfrm>
              <a:off x="2701925" y="2864584"/>
              <a:ext cx="103251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kern="100" dirty="0">
                  <a:solidFill>
                    <a:srgbClr val="0C276D"/>
                  </a:solidFill>
                  <a:latin typeface="Charter Roman" panose="02040503050506020203" pitchFamily="18" charset="0"/>
                </a:rPr>
                <a:t>What is HealthRate</a:t>
              </a:r>
              <a:endParaRPr lang="ru-RU" sz="8000" kern="100" dirty="0">
                <a:solidFill>
                  <a:srgbClr val="0C276D"/>
                </a:solidFill>
                <a:latin typeface="Montserrat" panose="00000500000000000000" pitchFamily="50" charset="-52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EA36A53-2D91-3E57-3F99-2A5A82EB3608}"/>
                </a:ext>
              </a:extLst>
            </p:cNvPr>
            <p:cNvSpPr txBox="1"/>
            <p:nvPr/>
          </p:nvSpPr>
          <p:spPr>
            <a:xfrm>
              <a:off x="2701925" y="2254984"/>
              <a:ext cx="9876500" cy="4023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2500" kern="100" spc="600" dirty="0">
                  <a:solidFill>
                    <a:schemeClr val="tx2"/>
                  </a:solidFill>
                  <a:latin typeface="Montserrat Medium" panose="00000600000000000000" pitchFamily="50" charset="-52"/>
                </a:rPr>
                <a:t>SaaS PLATFORM OVERVIEW</a:t>
              </a:r>
              <a:endParaRPr lang="ru-RU" sz="2500" kern="100" spc="600" dirty="0">
                <a:solidFill>
                  <a:schemeClr val="accent1"/>
                </a:solidFill>
                <a:latin typeface="Montserrat Medium" panose="00000600000000000000" pitchFamily="50" charset="-52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2967B1E-F089-AE4C-62B0-6E0F02A7D756}"/>
              </a:ext>
            </a:extLst>
          </p:cNvPr>
          <p:cNvSpPr txBox="1"/>
          <p:nvPr/>
        </p:nvSpPr>
        <p:spPr>
          <a:xfrm>
            <a:off x="21561425" y="1681390"/>
            <a:ext cx="1866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500" kern="100" spc="600" dirty="0">
                <a:solidFill>
                  <a:schemeClr val="tx2"/>
                </a:solidFill>
                <a:latin typeface="Montserrat Medium" panose="00000600000000000000" pitchFamily="50" charset="-52"/>
              </a:rPr>
              <a:t>01</a:t>
            </a:r>
            <a:endParaRPr lang="ru-RU" sz="2500" kern="100" spc="600" dirty="0">
              <a:solidFill>
                <a:schemeClr val="accent1"/>
              </a:solidFill>
              <a:latin typeface="Montserrat Medium" panose="00000600000000000000" pitchFamily="50" charset="-52"/>
            </a:endParaRPr>
          </a:p>
        </p:txBody>
      </p:sp>
      <p:pic>
        <p:nvPicPr>
          <p:cNvPr id="12" name="Picture 11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BE392C0D-3B70-77C3-865B-CF574C95DE9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1053" y="1295400"/>
            <a:ext cx="4348572" cy="10250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6367E7-B136-F18C-CEF8-9D3F39884316}"/>
              </a:ext>
            </a:extLst>
          </p:cNvPr>
          <p:cNvSpPr txBox="1"/>
          <p:nvPr/>
        </p:nvSpPr>
        <p:spPr>
          <a:xfrm>
            <a:off x="13091678" y="3219438"/>
            <a:ext cx="96921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kern="100" dirty="0">
                <a:solidFill>
                  <a:srgbClr val="0C2773"/>
                </a:solidFill>
                <a:latin typeface="Charter Roman" panose="02040503050506020203" pitchFamily="18" charset="0"/>
              </a:rPr>
              <a:t>Platform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4D8447-454F-9C15-062E-E3F30B99F4B5}"/>
              </a:ext>
            </a:extLst>
          </p:cNvPr>
          <p:cNvSpPr txBox="1"/>
          <p:nvPr/>
        </p:nvSpPr>
        <p:spPr>
          <a:xfrm>
            <a:off x="12192000" y="11563911"/>
            <a:ext cx="12192000" cy="651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US" sz="3600" i="1" kern="0" dirty="0">
                <a:solidFill>
                  <a:srgbClr val="29407E"/>
                </a:solidFill>
                <a:latin typeface="Montserrat" pitchFamily="2" charset="77"/>
              </a:rPr>
              <a:t>The “</a:t>
            </a:r>
            <a:r>
              <a:rPr lang="en-US" sz="3600" i="1" kern="0" dirty="0" err="1">
                <a:solidFill>
                  <a:srgbClr val="29407E"/>
                </a:solidFill>
                <a:latin typeface="Montserrat" pitchFamily="2" charset="77"/>
              </a:rPr>
              <a:t>GoodRx</a:t>
            </a:r>
            <a:r>
              <a:rPr lang="en-US" sz="3600" i="1" kern="0" dirty="0">
                <a:solidFill>
                  <a:srgbClr val="29407E"/>
                </a:solidFill>
                <a:latin typeface="Montserrat" pitchFamily="2" charset="77"/>
              </a:rPr>
              <a:t> for catastrophic claims”</a:t>
            </a:r>
            <a:endParaRPr lang="en-US" sz="2800" i="1" dirty="0">
              <a:solidFill>
                <a:srgbClr val="000000"/>
              </a:solidFill>
              <a:latin typeface="Montserrat" panose="00000500000000000000" pitchFamily="50" charset="-5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00C362-858F-B727-F997-64CF35113AF3}"/>
              </a:ext>
            </a:extLst>
          </p:cNvPr>
          <p:cNvSpPr txBox="1"/>
          <p:nvPr/>
        </p:nvSpPr>
        <p:spPr>
          <a:xfrm>
            <a:off x="908049" y="12159333"/>
            <a:ext cx="91439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kern="0" dirty="0">
                <a:solidFill>
                  <a:schemeClr val="tx2"/>
                </a:solidFill>
                <a:latin typeface="Montserrat" pitchFamily="2" charset="77"/>
              </a:rPr>
              <a:t>* HIMSS 2025 Best In Show Payer Analytics, </a:t>
            </a:r>
            <a:r>
              <a:rPr lang="en-US" sz="2400" b="1" i="1" kern="0" dirty="0" err="1">
                <a:solidFill>
                  <a:schemeClr val="tx2"/>
                </a:solidFill>
                <a:latin typeface="Montserrat" pitchFamily="2" charset="77"/>
              </a:rPr>
              <a:t>HealthcareMN</a:t>
            </a:r>
            <a:r>
              <a:rPr lang="en-US" sz="2400" b="1" i="1" kern="0" dirty="0">
                <a:solidFill>
                  <a:schemeClr val="tx2"/>
                </a:solidFill>
                <a:latin typeface="Montserrat" pitchFamily="2" charset="77"/>
              </a:rPr>
              <a:t> 2024 Start Up of the Year Nominee </a:t>
            </a:r>
            <a:endParaRPr lang="en-US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259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40B08-E225-3AFA-3FC9-3CC8CFEC5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D36758E-EBEA-5DC4-B81A-F1F4D54FBC05}"/>
              </a:ext>
            </a:extLst>
          </p:cNvPr>
          <p:cNvSpPr/>
          <p:nvPr/>
        </p:nvSpPr>
        <p:spPr>
          <a:xfrm>
            <a:off x="15373339" y="-12357"/>
            <a:ext cx="9004311" cy="137098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3010F1-864C-1126-F9E2-51EB6FFBE2CD}"/>
              </a:ext>
            </a:extLst>
          </p:cNvPr>
          <p:cNvSpPr txBox="1"/>
          <p:nvPr/>
        </p:nvSpPr>
        <p:spPr>
          <a:xfrm>
            <a:off x="21561425" y="1681390"/>
            <a:ext cx="1866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500" kern="100" spc="600" dirty="0">
                <a:solidFill>
                  <a:schemeClr val="tx2"/>
                </a:solidFill>
                <a:latin typeface="Montserrat Medium" panose="00000600000000000000" pitchFamily="50" charset="-52"/>
              </a:rPr>
              <a:t>02</a:t>
            </a:r>
            <a:endParaRPr lang="ru-RU" sz="2500" kern="100" spc="600" dirty="0">
              <a:solidFill>
                <a:schemeClr val="accent1"/>
              </a:solidFill>
              <a:latin typeface="Montserrat Medium" panose="00000600000000000000" pitchFamily="50" charset="-52"/>
            </a:endParaRPr>
          </a:p>
        </p:txBody>
      </p:sp>
      <p:pic>
        <p:nvPicPr>
          <p:cNvPr id="18" name="Picture 17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F5BA618A-8C6C-4627-9ADF-C5EE40B6BC4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1053" y="1295400"/>
            <a:ext cx="4348572" cy="102505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D092D72-02F8-7F52-EC6F-A6C0C8B53071}"/>
              </a:ext>
            </a:extLst>
          </p:cNvPr>
          <p:cNvSpPr txBox="1"/>
          <p:nvPr/>
        </p:nvSpPr>
        <p:spPr>
          <a:xfrm>
            <a:off x="18062294" y="240193"/>
            <a:ext cx="6070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kern="0" dirty="0">
                <a:solidFill>
                  <a:schemeClr val="tx2"/>
                </a:solidFill>
                <a:latin typeface="Montserrat" pitchFamily="2" charset="77"/>
              </a:rPr>
              <a:t>PROPRIETARY AND CONFIDENTIAL</a:t>
            </a:r>
            <a:endParaRPr lang="en-US" dirty="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5B4F0F-325F-85C9-404A-A2FA0DC06837}"/>
              </a:ext>
            </a:extLst>
          </p:cNvPr>
          <p:cNvSpPr txBox="1"/>
          <p:nvPr/>
        </p:nvSpPr>
        <p:spPr>
          <a:xfrm>
            <a:off x="1593849" y="1676400"/>
            <a:ext cx="78599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500" kern="100" spc="600" dirty="0">
                <a:solidFill>
                  <a:schemeClr val="tx2"/>
                </a:solidFill>
                <a:latin typeface="Montserrat Medium" panose="00000600000000000000" pitchFamily="50" charset="-52"/>
              </a:rPr>
              <a:t>HEALTHRATE EXPERTISE</a:t>
            </a:r>
            <a:endParaRPr lang="ru-RU" sz="2500" kern="100" spc="600" dirty="0">
              <a:solidFill>
                <a:schemeClr val="accent1"/>
              </a:solidFill>
              <a:latin typeface="Montserrat Medium" panose="00000600000000000000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67F72B-E627-14F8-37BA-C403367066DD}"/>
              </a:ext>
            </a:extLst>
          </p:cNvPr>
          <p:cNvSpPr txBox="1"/>
          <p:nvPr/>
        </p:nvSpPr>
        <p:spPr>
          <a:xfrm>
            <a:off x="1593849" y="2286000"/>
            <a:ext cx="119665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kern="100" dirty="0">
                <a:solidFill>
                  <a:srgbClr val="0C276D"/>
                </a:solidFill>
                <a:latin typeface="Charter Roman" panose="02040503050506020203" pitchFamily="18" charset="0"/>
              </a:rPr>
              <a:t>How it Works</a:t>
            </a:r>
            <a:endParaRPr lang="ru-RU" sz="8000" kern="100" dirty="0">
              <a:solidFill>
                <a:srgbClr val="0C276D"/>
              </a:solidFill>
              <a:latin typeface="Montserrat" panose="00000500000000000000" pitchFamily="50" charset="-52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BA22F87-A707-F280-E4A0-BBD155DE7B69}"/>
              </a:ext>
            </a:extLst>
          </p:cNvPr>
          <p:cNvCxnSpPr>
            <a:cxnSpLocks/>
            <a:endCxn id="24" idx="0"/>
          </p:cNvCxnSpPr>
          <p:nvPr/>
        </p:nvCxnSpPr>
        <p:spPr>
          <a:xfrm flipH="1">
            <a:off x="1190753" y="5268057"/>
            <a:ext cx="3420" cy="4145881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DB8DA8E7-9FAD-5095-55E0-462C97C1FBED}"/>
              </a:ext>
            </a:extLst>
          </p:cNvPr>
          <p:cNvGrpSpPr/>
          <p:nvPr/>
        </p:nvGrpSpPr>
        <p:grpSpPr>
          <a:xfrm>
            <a:off x="767024" y="6560038"/>
            <a:ext cx="832903" cy="832903"/>
            <a:chOff x="6052888" y="1435897"/>
            <a:chExt cx="416560" cy="416560"/>
          </a:xfrm>
          <a:solidFill>
            <a:schemeClr val="accent2"/>
          </a:solidFill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732E679-6580-29EC-FBEF-865150B9798C}"/>
                </a:ext>
              </a:extLst>
            </p:cNvPr>
            <p:cNvSpPr/>
            <p:nvPr/>
          </p:nvSpPr>
          <p:spPr>
            <a:xfrm>
              <a:off x="6052888" y="1435897"/>
              <a:ext cx="416560" cy="4165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198" dirty="0">
                <a:latin typeface="Century Gothic" panose="020B0502020202020204" pitchFamily="34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F918221-41FD-CBF4-EEFD-E87B5D5A8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6156" y="1570901"/>
              <a:ext cx="257303" cy="193802"/>
            </a:xfrm>
            <a:prstGeom prst="rect">
              <a:avLst/>
            </a:prstGeom>
            <a:grpFill/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8E9254A-050B-A171-E9FC-F3D88EC52E70}"/>
              </a:ext>
            </a:extLst>
          </p:cNvPr>
          <p:cNvGrpSpPr/>
          <p:nvPr/>
        </p:nvGrpSpPr>
        <p:grpSpPr>
          <a:xfrm>
            <a:off x="767024" y="5268057"/>
            <a:ext cx="832903" cy="832903"/>
            <a:chOff x="6052888" y="1435897"/>
            <a:chExt cx="416560" cy="41656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2B8E98A-9D02-390A-1112-30635BBE5DF2}"/>
                </a:ext>
              </a:extLst>
            </p:cNvPr>
            <p:cNvSpPr/>
            <p:nvPr/>
          </p:nvSpPr>
          <p:spPr>
            <a:xfrm>
              <a:off x="6052888" y="1435897"/>
              <a:ext cx="416560" cy="4165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198" dirty="0">
                <a:latin typeface="Century Gothic" panose="020B0502020202020204" pitchFamily="34" charset="0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0C4A47F-1F63-93BA-A75E-67276DB41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6156" y="1570901"/>
              <a:ext cx="257303" cy="193802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0F03FDB-E106-472C-3960-14A60CED4562}"/>
              </a:ext>
            </a:extLst>
          </p:cNvPr>
          <p:cNvGrpSpPr/>
          <p:nvPr/>
        </p:nvGrpSpPr>
        <p:grpSpPr>
          <a:xfrm>
            <a:off x="767024" y="9144000"/>
            <a:ext cx="832903" cy="832903"/>
            <a:chOff x="6052888" y="1435897"/>
            <a:chExt cx="416560" cy="416560"/>
          </a:xfrm>
          <a:solidFill>
            <a:schemeClr val="tx2"/>
          </a:solidFill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0F1AEC5-C714-DA4F-08A5-3BD737D302F6}"/>
                </a:ext>
              </a:extLst>
            </p:cNvPr>
            <p:cNvSpPr/>
            <p:nvPr/>
          </p:nvSpPr>
          <p:spPr>
            <a:xfrm>
              <a:off x="6052888" y="1435897"/>
              <a:ext cx="416560" cy="4165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198" dirty="0">
                <a:latin typeface="Century Gothic" panose="020B0502020202020204" pitchFamily="34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BE75255-A52B-644B-09DF-FB8038C24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6156" y="1570901"/>
              <a:ext cx="257303" cy="193802"/>
            </a:xfrm>
            <a:prstGeom prst="rect">
              <a:avLst/>
            </a:prstGeom>
            <a:grpFill/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4254810-D92A-C933-6536-20D949F18AB4}"/>
              </a:ext>
            </a:extLst>
          </p:cNvPr>
          <p:cNvSpPr txBox="1"/>
          <p:nvPr/>
        </p:nvSpPr>
        <p:spPr>
          <a:xfrm>
            <a:off x="16980861" y="6366764"/>
            <a:ext cx="6358890" cy="563231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Montserrat" panose="00000500000000000000" pitchFamily="50" charset="-52"/>
              </a:rPr>
              <a:t>Built on decades of domain experience, trillions of data points, advanced statistical methods, and recent advancements in AI/ML</a:t>
            </a:r>
          </a:p>
          <a:p>
            <a:endParaRPr lang="en-US" dirty="0">
              <a:solidFill>
                <a:schemeClr val="tx2"/>
              </a:solidFill>
              <a:latin typeface="Montserrat" panose="00000500000000000000" pitchFamily="50" charset="-52"/>
            </a:endParaRPr>
          </a:p>
          <a:p>
            <a:r>
              <a:rPr lang="en-US" dirty="0">
                <a:solidFill>
                  <a:schemeClr val="tx2"/>
                </a:solidFill>
                <a:latin typeface="Montserrat" panose="00000500000000000000" pitchFamily="50" charset="-52"/>
              </a:rPr>
              <a:t>HealthRate proactively identifies the optimal source and cost of care.</a:t>
            </a:r>
          </a:p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8D50FA-A3E1-61C2-0AF1-71AD2CA4B28C}"/>
              </a:ext>
            </a:extLst>
          </p:cNvPr>
          <p:cNvSpPr txBox="1"/>
          <p:nvPr/>
        </p:nvSpPr>
        <p:spPr>
          <a:xfrm>
            <a:off x="16980861" y="4660249"/>
            <a:ext cx="6488956" cy="116955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3500" kern="100" dirty="0">
                <a:solidFill>
                  <a:srgbClr val="000000"/>
                </a:solidFill>
                <a:latin typeface="Montserrat SemiBold" panose="00000700000000000000" pitchFamily="50" charset="-52"/>
              </a:rPr>
              <a:t>PAYMENT OPTIMIZATION &amp; </a:t>
            </a:r>
          </a:p>
          <a:p>
            <a:r>
              <a:rPr lang="en-US" sz="3500" kern="100" dirty="0">
                <a:solidFill>
                  <a:srgbClr val="000000"/>
                </a:solidFill>
                <a:latin typeface="Montserrat SemiBold" panose="00000700000000000000" pitchFamily="50" charset="-52"/>
              </a:rPr>
              <a:t>DECISION SUPPORT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BD452E-497A-39AC-C215-7906780515D7}"/>
              </a:ext>
            </a:extLst>
          </p:cNvPr>
          <p:cNvSpPr txBox="1"/>
          <p:nvPr/>
        </p:nvSpPr>
        <p:spPr>
          <a:xfrm>
            <a:off x="2206626" y="5119616"/>
            <a:ext cx="1238909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4800" dirty="0">
                <a:solidFill>
                  <a:schemeClr val="tx2"/>
                </a:solidFill>
                <a:latin typeface="Montserrat" panose="00000500000000000000" pitchFamily="2" charset="0"/>
              </a:rPr>
              <a:t>Sign contract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800" dirty="0">
                <a:solidFill>
                  <a:schemeClr val="tx2"/>
                </a:solidFill>
                <a:latin typeface="Montserrat" panose="00000500000000000000" pitchFamily="2" charset="0"/>
              </a:rPr>
              <a:t>Onboard (2 weeks on average)</a:t>
            </a:r>
          </a:p>
          <a:p>
            <a:pPr marL="1657167" lvl="1" indent="-7429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2"/>
                </a:solidFill>
                <a:latin typeface="Montserrat" panose="00000500000000000000" pitchFamily="2" charset="0"/>
              </a:rPr>
              <a:t>Training included</a:t>
            </a:r>
          </a:p>
          <a:p>
            <a:pPr marL="1657167" lvl="1" indent="-7429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2"/>
                </a:solidFill>
                <a:latin typeface="Montserrat" panose="00000500000000000000" pitchFamily="2" charset="0"/>
              </a:rPr>
              <a:t>Secure solo tenant established</a:t>
            </a:r>
          </a:p>
          <a:p>
            <a:pPr marL="1657167" lvl="1" indent="-7429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2"/>
                </a:solidFill>
                <a:latin typeface="Montserrat" panose="00000500000000000000" pitchFamily="2" charset="0"/>
              </a:rPr>
              <a:t>Contracts loaded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800" dirty="0">
                <a:solidFill>
                  <a:schemeClr val="tx2"/>
                </a:solidFill>
                <a:latin typeface="Montserrat" panose="00000500000000000000" pitchFamily="2" charset="0"/>
              </a:rPr>
              <a:t>Run HealthRate check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800" dirty="0">
                <a:solidFill>
                  <a:schemeClr val="tx2"/>
                </a:solidFill>
                <a:latin typeface="Montserrat" panose="00000500000000000000" pitchFamily="2" charset="0"/>
              </a:rPr>
              <a:t>Save money!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CE07260-8D07-C9C2-0DA3-7325F8949E92}"/>
              </a:ext>
            </a:extLst>
          </p:cNvPr>
          <p:cNvGrpSpPr/>
          <p:nvPr/>
        </p:nvGrpSpPr>
        <p:grpSpPr>
          <a:xfrm>
            <a:off x="767024" y="7852019"/>
            <a:ext cx="832903" cy="832903"/>
            <a:chOff x="6052888" y="1435897"/>
            <a:chExt cx="416560" cy="416560"/>
          </a:xfrm>
          <a:solidFill>
            <a:srgbClr val="2960A1"/>
          </a:soli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2DBBD96-AF80-07A0-F857-697B47DA1C08}"/>
                </a:ext>
              </a:extLst>
            </p:cNvPr>
            <p:cNvSpPr/>
            <p:nvPr/>
          </p:nvSpPr>
          <p:spPr>
            <a:xfrm>
              <a:off x="6052888" y="1435897"/>
              <a:ext cx="416560" cy="4165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198" dirty="0">
                <a:latin typeface="Century Gothic" panose="020B0502020202020204" pitchFamily="34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F664EFD-D1E8-928F-3A9C-4FCECC8B2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6156" y="1570901"/>
              <a:ext cx="257303" cy="193802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3384080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EDB428E-1FD8-2B3F-64F3-868EA9BE7900}"/>
              </a:ext>
            </a:extLst>
          </p:cNvPr>
          <p:cNvSpPr/>
          <p:nvPr/>
        </p:nvSpPr>
        <p:spPr>
          <a:xfrm>
            <a:off x="-7296" y="6178"/>
            <a:ext cx="10325100" cy="137098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62A758A-6ACD-4F95-B0D6-11E16CBF7F76}"/>
              </a:ext>
            </a:extLst>
          </p:cNvPr>
          <p:cNvGrpSpPr/>
          <p:nvPr/>
        </p:nvGrpSpPr>
        <p:grpSpPr>
          <a:xfrm>
            <a:off x="1216025" y="1676400"/>
            <a:ext cx="10325100" cy="1933039"/>
            <a:chOff x="2701925" y="2254984"/>
            <a:chExt cx="10325100" cy="193303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2552E26-0908-45E8-A303-A12FAABF9154}"/>
                </a:ext>
              </a:extLst>
            </p:cNvPr>
            <p:cNvSpPr txBox="1"/>
            <p:nvPr/>
          </p:nvSpPr>
          <p:spPr>
            <a:xfrm>
              <a:off x="2701925" y="2864584"/>
              <a:ext cx="103251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kern="100" dirty="0">
                  <a:solidFill>
                    <a:srgbClr val="0C276D"/>
                  </a:solidFill>
                  <a:latin typeface="Charter Roman" panose="02040503050506020203" pitchFamily="18" charset="0"/>
                </a:rPr>
                <a:t>What Do I Get?</a:t>
              </a:r>
              <a:endParaRPr lang="ru-RU" sz="8000" kern="100" dirty="0">
                <a:solidFill>
                  <a:srgbClr val="0C276D"/>
                </a:solidFill>
                <a:latin typeface="Montserrat" panose="00000500000000000000" pitchFamily="50" charset="-52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4130ACD-A791-4ECB-8E64-C77F9F6C12EF}"/>
                </a:ext>
              </a:extLst>
            </p:cNvPr>
            <p:cNvSpPr txBox="1"/>
            <p:nvPr/>
          </p:nvSpPr>
          <p:spPr>
            <a:xfrm>
              <a:off x="2701925" y="2254984"/>
              <a:ext cx="6781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2500" kern="100" spc="600" dirty="0">
                  <a:solidFill>
                    <a:schemeClr val="tx2"/>
                  </a:solidFill>
                  <a:latin typeface="Montserrat Medium" panose="00000600000000000000" pitchFamily="50" charset="-52"/>
                </a:rPr>
                <a:t>HEALTHRATE SOLUTION</a:t>
              </a:r>
              <a:endParaRPr lang="ru-RU" sz="2500" kern="100" spc="600" dirty="0">
                <a:solidFill>
                  <a:schemeClr val="accent1"/>
                </a:solidFill>
                <a:latin typeface="Montserrat Medium" panose="00000600000000000000" pitchFamily="50" charset="-52"/>
              </a:endParaRPr>
            </a:p>
          </p:txBody>
        </p:sp>
      </p:grpSp>
      <p:sp>
        <p:nvSpPr>
          <p:cNvPr id="7" name="TextBox 5">
            <a:extLst>
              <a:ext uri="{FF2B5EF4-FFF2-40B4-BE49-F238E27FC236}">
                <a16:creationId xmlns:a16="http://schemas.microsoft.com/office/drawing/2014/main" id="{EC59018D-2DAA-468C-B121-28673DA58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9125" y="5867400"/>
            <a:ext cx="6191352" cy="276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9pPr>
          </a:lstStyle>
          <a:p>
            <a:pPr lvl="0"/>
            <a:endParaRPr lang="en-US" sz="3000" kern="100" dirty="0">
              <a:solidFill>
                <a:srgbClr val="000000"/>
              </a:solidFill>
              <a:latin typeface="Montserrat SemiBold" panose="00000700000000000000" pitchFamily="50" charset="-52"/>
            </a:endParaRPr>
          </a:p>
          <a:p>
            <a:pPr lvl="0">
              <a:lnSpc>
                <a:spcPct val="80000"/>
              </a:lnSpc>
            </a:pPr>
            <a:r>
              <a:rPr lang="en-US" sz="3500" kern="100" dirty="0">
                <a:solidFill>
                  <a:srgbClr val="000000"/>
                </a:solidFill>
                <a:latin typeface="Montserrat SemiBold" panose="00000700000000000000" pitchFamily="50" charset="-52"/>
              </a:rPr>
              <a:t>RETURN ON INVESTMENT</a:t>
            </a:r>
            <a:endParaRPr lang="ru-RU" sz="3500" kern="100" dirty="0">
              <a:solidFill>
                <a:srgbClr val="C3C8D4"/>
              </a:solidFill>
              <a:latin typeface="Montserrat SemiBold" panose="00000700000000000000" pitchFamily="50" charset="-52"/>
            </a:endParaRPr>
          </a:p>
          <a:p>
            <a:pPr>
              <a:lnSpc>
                <a:spcPct val="150000"/>
              </a:lnSpc>
            </a:pPr>
            <a:r>
              <a:rPr lang="en-US" altLang="ru-RU" sz="500" dirty="0">
                <a:solidFill>
                  <a:schemeClr val="tx2"/>
                </a:solidFill>
                <a:latin typeface="Montserrat" panose="00000500000000000000" pitchFamily="50" charset="-52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2500" dirty="0">
                <a:solidFill>
                  <a:schemeClr val="tx2"/>
                </a:solidFill>
                <a:latin typeface="Montserrat" panose="00000500000000000000" pitchFamily="50" charset="-52"/>
              </a:rPr>
              <a:t>Prevents dollars from ever going out the door driving immediate bottom-line impact in the millions</a:t>
            </a:r>
            <a:endParaRPr lang="en-US" altLang="ru-RU" sz="2500" dirty="0">
              <a:solidFill>
                <a:schemeClr val="tx2"/>
              </a:solidFill>
              <a:latin typeface="Montserrat" panose="00000500000000000000" pitchFamily="50" charset="-52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A49C7A22-FA50-48C5-8BDB-DF9C777EE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9125" y="10503923"/>
            <a:ext cx="6191352" cy="276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9pPr>
          </a:lstStyle>
          <a:p>
            <a:pPr lvl="0"/>
            <a:endParaRPr lang="en-US" sz="3000" kern="100" dirty="0">
              <a:solidFill>
                <a:srgbClr val="000000"/>
              </a:solidFill>
              <a:latin typeface="Montserrat SemiBold" panose="00000700000000000000" pitchFamily="50" charset="-52"/>
            </a:endParaRPr>
          </a:p>
          <a:p>
            <a:pPr lvl="0">
              <a:lnSpc>
                <a:spcPct val="80000"/>
              </a:lnSpc>
            </a:pPr>
            <a:r>
              <a:rPr lang="en-US" sz="3500" kern="100" dirty="0">
                <a:solidFill>
                  <a:srgbClr val="000000"/>
                </a:solidFill>
                <a:latin typeface="Montserrat SemiBold" panose="00000700000000000000" pitchFamily="50" charset="-52"/>
              </a:rPr>
              <a:t>UNPRECEDENTED</a:t>
            </a:r>
            <a:endParaRPr lang="ru-RU" sz="3500" kern="100" dirty="0">
              <a:solidFill>
                <a:srgbClr val="C3C8D4"/>
              </a:solidFill>
              <a:latin typeface="Montserrat SemiBold" panose="00000700000000000000" pitchFamily="50" charset="-52"/>
            </a:endParaRPr>
          </a:p>
          <a:p>
            <a:pPr>
              <a:lnSpc>
                <a:spcPct val="150000"/>
              </a:lnSpc>
            </a:pPr>
            <a:r>
              <a:rPr lang="en-US" altLang="ru-RU" sz="500" dirty="0">
                <a:solidFill>
                  <a:schemeClr val="tx2"/>
                </a:solidFill>
                <a:latin typeface="Montserrat" panose="00000500000000000000" pitchFamily="50" charset="-52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2500" dirty="0">
                <a:solidFill>
                  <a:schemeClr val="tx2"/>
                </a:solidFill>
                <a:latin typeface="Montserrat" panose="00000500000000000000" pitchFamily="50" charset="-52"/>
              </a:rPr>
              <a:t>We are NOT a transparency data provider and we are NOT a patient navigation or COE solution</a:t>
            </a:r>
            <a:endParaRPr lang="en-US" altLang="ru-RU" sz="2500" dirty="0">
              <a:solidFill>
                <a:schemeClr val="tx2"/>
              </a:solidFill>
              <a:latin typeface="Montserrat" panose="00000500000000000000" pitchFamily="50" charset="-52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71389C21-AB4B-47E7-B359-35069481A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32273" y="6172200"/>
            <a:ext cx="6191352" cy="2412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9pPr>
          </a:lstStyle>
          <a:p>
            <a:pPr lvl="0"/>
            <a:r>
              <a:rPr lang="en-US" sz="3500" kern="100" dirty="0">
                <a:solidFill>
                  <a:srgbClr val="000000"/>
                </a:solidFill>
                <a:latin typeface="Montserrat SemiBold" panose="00000700000000000000" pitchFamily="50" charset="-52"/>
              </a:rPr>
              <a:t>UNBIASED</a:t>
            </a:r>
          </a:p>
          <a:p>
            <a:pPr>
              <a:lnSpc>
                <a:spcPct val="150000"/>
              </a:lnSpc>
            </a:pPr>
            <a:r>
              <a:rPr lang="en-US" altLang="ru-RU" sz="500" dirty="0">
                <a:solidFill>
                  <a:schemeClr val="tx2"/>
                </a:solidFill>
                <a:latin typeface="Montserrat" panose="00000500000000000000" pitchFamily="50" charset="-5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2500" dirty="0">
                <a:solidFill>
                  <a:schemeClr val="tx2"/>
                </a:solidFill>
                <a:latin typeface="Montserrat" panose="00000500000000000000" pitchFamily="50" charset="-52"/>
              </a:rPr>
              <a:t>We maintain complete independence and objectivity and do not accept external compensation</a:t>
            </a:r>
            <a:endParaRPr lang="ko-KR" altLang="en-US" sz="2500" dirty="0">
              <a:solidFill>
                <a:schemeClr val="tx2"/>
              </a:solidFill>
              <a:latin typeface="Montserrat" panose="00000500000000000000" pitchFamily="50" charset="-52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103E1BEC-F95D-4117-9DEF-09ECF7D76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32273" y="10770080"/>
            <a:ext cx="6191352" cy="2412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9pPr>
          </a:lstStyle>
          <a:p>
            <a:pPr lvl="0"/>
            <a:r>
              <a:rPr lang="en-US" sz="3500" kern="100" dirty="0">
                <a:solidFill>
                  <a:srgbClr val="000000"/>
                </a:solidFill>
                <a:latin typeface="Montserrat SemiBold" panose="00000700000000000000" pitchFamily="50" charset="-52"/>
              </a:rPr>
              <a:t>REAL-TIME</a:t>
            </a:r>
            <a:endParaRPr lang="ru-RU" sz="3500" kern="100" dirty="0">
              <a:solidFill>
                <a:srgbClr val="C3C8D4"/>
              </a:solidFill>
              <a:latin typeface="Montserrat SemiBold" panose="00000700000000000000" pitchFamily="50" charset="-52"/>
            </a:endParaRPr>
          </a:p>
          <a:p>
            <a:pPr>
              <a:lnSpc>
                <a:spcPct val="150000"/>
              </a:lnSpc>
            </a:pPr>
            <a:r>
              <a:rPr lang="en-US" altLang="ru-RU" sz="500" dirty="0">
                <a:solidFill>
                  <a:schemeClr val="tx2"/>
                </a:solidFill>
                <a:latin typeface="Montserrat" panose="00000500000000000000" pitchFamily="50" charset="-52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2500" dirty="0">
                <a:solidFill>
                  <a:schemeClr val="tx2"/>
                </a:solidFill>
                <a:latin typeface="Montserrat" panose="00000500000000000000" pitchFamily="50" charset="-52"/>
              </a:rPr>
              <a:t>HealthRate is always current with your data, available 24x7 and responds within seconds</a:t>
            </a:r>
            <a:endParaRPr lang="en-US" altLang="ru-RU" sz="2500" dirty="0">
              <a:solidFill>
                <a:schemeClr val="tx2"/>
              </a:solidFill>
              <a:latin typeface="Montserrat" panose="00000500000000000000" pitchFamily="50" charset="-5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D4FD56-3D2B-8246-8507-A2DAA3A89F5B}"/>
              </a:ext>
            </a:extLst>
          </p:cNvPr>
          <p:cNvSpPr txBox="1"/>
          <p:nvPr/>
        </p:nvSpPr>
        <p:spPr>
          <a:xfrm>
            <a:off x="21561425" y="1681390"/>
            <a:ext cx="1866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500" kern="100" spc="600" dirty="0">
                <a:solidFill>
                  <a:schemeClr val="tx2"/>
                </a:solidFill>
                <a:latin typeface="Montserrat Medium" panose="00000600000000000000" pitchFamily="50" charset="-52"/>
              </a:rPr>
              <a:t>03</a:t>
            </a:r>
            <a:endParaRPr lang="ru-RU" sz="2500" kern="100" spc="600" dirty="0">
              <a:solidFill>
                <a:schemeClr val="accent1"/>
              </a:solidFill>
              <a:latin typeface="Montserrat Medium" panose="00000600000000000000" pitchFamily="50" charset="-52"/>
            </a:endParaRPr>
          </a:p>
        </p:txBody>
      </p:sp>
      <p:pic>
        <p:nvPicPr>
          <p:cNvPr id="16" name="Picture 15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A45C9D96-6E96-844C-BDF5-C189B141D78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1053" y="1295400"/>
            <a:ext cx="4348572" cy="102505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9FB7A39-E1D1-AC4F-9373-A125C5E5A20B}"/>
              </a:ext>
            </a:extLst>
          </p:cNvPr>
          <p:cNvSpPr txBox="1"/>
          <p:nvPr/>
        </p:nvSpPr>
        <p:spPr>
          <a:xfrm>
            <a:off x="18062294" y="240193"/>
            <a:ext cx="6070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kern="0" dirty="0">
                <a:solidFill>
                  <a:schemeClr val="tx2"/>
                </a:solidFill>
                <a:latin typeface="Montserrat" pitchFamily="2" charset="77"/>
              </a:rPr>
              <a:t>PROPRIETARY AND CONFIDENTIAL</a:t>
            </a:r>
            <a:endParaRPr lang="en-US" dirty="0">
              <a:solidFill>
                <a:schemeClr val="tx2"/>
              </a:solidFill>
              <a:latin typeface="Montserrat" pitchFamily="2" charset="77"/>
            </a:endParaRPr>
          </a:p>
        </p:txBody>
      </p:sp>
      <p:pic>
        <p:nvPicPr>
          <p:cNvPr id="28" name="Graphic 27" descr="Images with solid fill">
            <a:extLst>
              <a:ext uri="{FF2B5EF4-FFF2-40B4-BE49-F238E27FC236}">
                <a16:creationId xmlns:a16="http://schemas.microsoft.com/office/drawing/2014/main" id="{61649BE6-9A19-DB2F-1F1C-86A2374B46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61294" y="9328645"/>
            <a:ext cx="1056476" cy="1056476"/>
          </a:xfrm>
          <a:prstGeom prst="rect">
            <a:avLst/>
          </a:prstGeom>
        </p:spPr>
      </p:pic>
      <p:pic>
        <p:nvPicPr>
          <p:cNvPr id="1026" name="Picture 2" descr="Truck, fast">
            <a:extLst>
              <a:ext uri="{FF2B5EF4-FFF2-40B4-BE49-F238E27FC236}">
                <a16:creationId xmlns:a16="http://schemas.microsoft.com/office/drawing/2014/main" id="{91BD2689-10A1-2F1A-C3C5-8ECEC8615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77866" y="9232002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ias, unbiased, discuss, empathy, conversation, open mindedness, opinion">
            <a:extLst>
              <a:ext uri="{FF2B5EF4-FFF2-40B4-BE49-F238E27FC236}">
                <a16:creationId xmlns:a16="http://schemas.microsoft.com/office/drawing/2014/main" id="{4750CCA5-44CE-8570-036B-670B07F5F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32273" y="4514850"/>
            <a:ext cx="1200150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usiness, deal, money">
            <a:extLst>
              <a:ext uri="{FF2B5EF4-FFF2-40B4-BE49-F238E27FC236}">
                <a16:creationId xmlns:a16="http://schemas.microsoft.com/office/drawing/2014/main" id="{92E376CE-5035-7CC7-7BF0-ACE3C728A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3359" y="4457792"/>
            <a:ext cx="129540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BEA9D7FA-9316-250D-E36A-61D0A20A3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497" y="9328645"/>
            <a:ext cx="8651546" cy="276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9pPr>
          </a:lstStyle>
          <a:p>
            <a:pPr lvl="0" algn="ctr"/>
            <a:endParaRPr lang="en-US" sz="3000" kern="100" dirty="0">
              <a:solidFill>
                <a:srgbClr val="000000"/>
              </a:solidFill>
              <a:latin typeface="Montserrat SemiBold" panose="00000700000000000000" pitchFamily="50" charset="-52"/>
            </a:endParaRPr>
          </a:p>
          <a:p>
            <a:pPr lvl="0" algn="ctr">
              <a:lnSpc>
                <a:spcPct val="80000"/>
              </a:lnSpc>
            </a:pPr>
            <a:r>
              <a:rPr lang="en-US" sz="3500" kern="100" dirty="0">
                <a:solidFill>
                  <a:srgbClr val="000000"/>
                </a:solidFill>
                <a:latin typeface="Montserrat SemiBold" panose="00000700000000000000" pitchFamily="50" charset="-52"/>
              </a:rPr>
              <a:t>FIDUCIARY</a:t>
            </a:r>
            <a:endParaRPr lang="ru-RU" sz="3500" kern="100" dirty="0">
              <a:solidFill>
                <a:srgbClr val="C3C8D4"/>
              </a:solidFill>
              <a:latin typeface="Montserrat SemiBold" panose="00000700000000000000" pitchFamily="50" charset="-52"/>
            </a:endParaRPr>
          </a:p>
          <a:p>
            <a:pPr algn="ctr">
              <a:lnSpc>
                <a:spcPct val="150000"/>
              </a:lnSpc>
            </a:pPr>
            <a:r>
              <a:rPr lang="en-US" altLang="ru-RU" sz="500" dirty="0">
                <a:solidFill>
                  <a:schemeClr val="tx2"/>
                </a:solidFill>
                <a:latin typeface="Montserrat" panose="00000500000000000000" pitchFamily="50" charset="-52"/>
              </a:rPr>
              <a:t>. </a:t>
            </a:r>
          </a:p>
          <a:p>
            <a:pPr algn="ctr">
              <a:lnSpc>
                <a:spcPct val="150000"/>
              </a:lnSpc>
            </a:pPr>
            <a:r>
              <a:rPr lang="en-US" altLang="ru-RU" sz="2500" dirty="0">
                <a:solidFill>
                  <a:schemeClr val="tx2"/>
                </a:solidFill>
                <a:latin typeface="Montserrat" panose="00000500000000000000" pitchFamily="50" charset="-52"/>
              </a:rPr>
              <a:t>A detailed cost analysis is completed and available for your review for each and EVERY case resulting in $50,000 - $1,000,000+ in savings per case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E197A1-C9EF-790B-54F9-D610A405B6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497" y="4356332"/>
            <a:ext cx="8651546" cy="474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002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BCADD-154D-CE57-E70C-A557E76CC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D487B29-7F28-6D12-AA7D-E43B71CE0F98}"/>
              </a:ext>
            </a:extLst>
          </p:cNvPr>
          <p:cNvSpPr/>
          <p:nvPr/>
        </p:nvSpPr>
        <p:spPr>
          <a:xfrm>
            <a:off x="12791129" y="-12357"/>
            <a:ext cx="11586521" cy="137098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EA5A18-3351-0136-E651-D9E149F0BB89}"/>
              </a:ext>
            </a:extLst>
          </p:cNvPr>
          <p:cNvSpPr txBox="1"/>
          <p:nvPr/>
        </p:nvSpPr>
        <p:spPr>
          <a:xfrm>
            <a:off x="21561425" y="1681390"/>
            <a:ext cx="1866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500" kern="100" spc="600" dirty="0">
                <a:solidFill>
                  <a:schemeClr val="tx2"/>
                </a:solidFill>
                <a:latin typeface="Montserrat Medium" panose="00000600000000000000" pitchFamily="50" charset="-52"/>
              </a:rPr>
              <a:t>04</a:t>
            </a:r>
            <a:endParaRPr lang="ru-RU" sz="2500" kern="100" spc="600" dirty="0">
              <a:solidFill>
                <a:schemeClr val="accent1"/>
              </a:solidFill>
              <a:latin typeface="Montserrat Medium" panose="00000600000000000000" pitchFamily="50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1E989A-88A0-04AC-B54B-2D5D9CF18125}"/>
              </a:ext>
            </a:extLst>
          </p:cNvPr>
          <p:cNvSpPr txBox="1"/>
          <p:nvPr/>
        </p:nvSpPr>
        <p:spPr>
          <a:xfrm>
            <a:off x="1609796" y="3665704"/>
            <a:ext cx="10117640" cy="2963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200" kern="0" dirty="0">
                <a:solidFill>
                  <a:schemeClr val="tx2"/>
                </a:solidFill>
                <a:latin typeface="Montserrat" pitchFamily="2" charset="77"/>
              </a:rPr>
              <a:t>Minimal training</a:t>
            </a: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200" kern="0" dirty="0">
                <a:solidFill>
                  <a:schemeClr val="tx2"/>
                </a:solidFill>
                <a:latin typeface="Montserrat" pitchFamily="2" charset="77"/>
              </a:rPr>
              <a:t>Zero-technology integration </a:t>
            </a: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200" kern="0" dirty="0">
                <a:solidFill>
                  <a:schemeClr val="tx2"/>
                </a:solidFill>
                <a:latin typeface="Montserrat" pitchFamily="2" charset="77"/>
              </a:rPr>
              <a:t>Contains no HIPAA data</a:t>
            </a: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200" kern="0" dirty="0">
                <a:solidFill>
                  <a:schemeClr val="tx2"/>
                </a:solidFill>
                <a:latin typeface="Montserrat" pitchFamily="2" charset="77"/>
              </a:rPr>
              <a:t>Uses your existing processes and workflow</a:t>
            </a:r>
          </a:p>
        </p:txBody>
      </p:sp>
      <p:pic>
        <p:nvPicPr>
          <p:cNvPr id="16" name="Picture Placeholder 7" descr="A group of men looking at a computer screen&#10;&#10;Description automatically generated">
            <a:extLst>
              <a:ext uri="{FF2B5EF4-FFF2-40B4-BE49-F238E27FC236}">
                <a16:creationId xmlns:a16="http://schemas.microsoft.com/office/drawing/2014/main" id="{C226F999-C0E6-3CFA-7119-51189556830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r="3"/>
          <a:stretch>
            <a:fillRect/>
          </a:stretch>
        </p:blipFill>
        <p:spPr>
          <a:xfrm>
            <a:off x="1556263" y="7171947"/>
            <a:ext cx="9819747" cy="654649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00AA45A-43D9-7268-91F5-802607D437B0}"/>
              </a:ext>
            </a:extLst>
          </p:cNvPr>
          <p:cNvSpPr/>
          <p:nvPr/>
        </p:nvSpPr>
        <p:spPr>
          <a:xfrm>
            <a:off x="1444625" y="7171947"/>
            <a:ext cx="9931386" cy="6620253"/>
          </a:xfrm>
          <a:prstGeom prst="rect">
            <a:avLst/>
          </a:prstGeom>
          <a:solidFill>
            <a:srgbClr val="E7E9EE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8" name="Picture 17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D5B37CB9-8B30-8F10-4626-0E4F320C40A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1053" y="1295400"/>
            <a:ext cx="4348572" cy="102505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9062210-988B-0D47-D00F-E17EBC3E1A85}"/>
              </a:ext>
            </a:extLst>
          </p:cNvPr>
          <p:cNvSpPr txBox="1"/>
          <p:nvPr/>
        </p:nvSpPr>
        <p:spPr>
          <a:xfrm>
            <a:off x="18062294" y="240193"/>
            <a:ext cx="6070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kern="0" dirty="0">
                <a:solidFill>
                  <a:schemeClr val="tx2"/>
                </a:solidFill>
                <a:latin typeface="Montserrat" pitchFamily="2" charset="77"/>
              </a:rPr>
              <a:t>PROPRIETARY AND CONFIDENTIAL</a:t>
            </a:r>
            <a:endParaRPr lang="en-US" dirty="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068FE4-619A-F881-9433-B48870CE385B}"/>
              </a:ext>
            </a:extLst>
          </p:cNvPr>
          <p:cNvSpPr txBox="1"/>
          <p:nvPr/>
        </p:nvSpPr>
        <p:spPr>
          <a:xfrm>
            <a:off x="14063222" y="3140372"/>
            <a:ext cx="9896662" cy="665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spc="300" noProof="1">
                <a:solidFill>
                  <a:schemeClr val="tx2"/>
                </a:solidFill>
                <a:latin typeface="Montserrat SemiBold" pitchFamily="2" charset="77"/>
              </a:rPr>
              <a:t>IMMEDIATE BENEFITS INCLUDE: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3CF39459-860A-4161-41AE-99EF384B0937}"/>
              </a:ext>
            </a:extLst>
          </p:cNvPr>
          <p:cNvSpPr txBox="1">
            <a:spLocks/>
          </p:cNvSpPr>
          <p:nvPr/>
        </p:nvSpPr>
        <p:spPr>
          <a:xfrm>
            <a:off x="14296928" y="4039400"/>
            <a:ext cx="9137553" cy="8714636"/>
          </a:xfrm>
          <a:prstGeom prst="rect">
            <a:avLst/>
          </a:prstGeom>
        </p:spPr>
        <p:txBody>
          <a:bodyPr/>
          <a:lstStyle>
            <a:lvl1pPr marL="457109" indent="-457109" algn="l" defTabSz="1828434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lang="en-US" sz="4800" b="0" i="0" kern="1200" dirty="0" smtClean="0">
                <a:solidFill>
                  <a:schemeClr val="tx1"/>
                </a:solidFill>
                <a:effectLst/>
                <a:latin typeface="Charter Roman" panose="02040503050506020203" pitchFamily="18" charset="0"/>
                <a:ea typeface="Charter Roman" panose="02040503050506020203" pitchFamily="18" charset="0"/>
                <a:cs typeface="Charter Roman" panose="02040503050506020203" pitchFamily="18" charset="0"/>
              </a:defRPr>
            </a:lvl1pPr>
            <a:lvl2pPr marL="1371326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4000" b="1" i="0" kern="1200" spc="300" dirty="0" smtClean="0">
                <a:solidFill>
                  <a:schemeClr val="tx1"/>
                </a:solidFill>
                <a:effectLst/>
                <a:latin typeface="Montserrat SemiBold" pitchFamily="2" charset="77"/>
                <a:ea typeface="Montserrat SemiBold" pitchFamily="2" charset="77"/>
                <a:cs typeface="Montserrat SemiBold" pitchFamily="2" charset="77"/>
              </a:defRPr>
            </a:lvl2pPr>
            <a:lvl3pPr marL="2285543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600" b="0" i="0" kern="1200" dirty="0" smtClean="0">
                <a:solidFill>
                  <a:schemeClr val="tx1"/>
                </a:solidFill>
                <a:effectLst/>
                <a:latin typeface="Montserrat" pitchFamily="2" charset="77"/>
                <a:ea typeface="Montserrat" pitchFamily="2" charset="77"/>
                <a:cs typeface="Montserrat" pitchFamily="2" charset="77"/>
              </a:defRPr>
            </a:lvl3pPr>
            <a:lvl4pPr marL="3199760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b="0" i="0" kern="1200" dirty="0" smtClean="0">
                <a:solidFill>
                  <a:schemeClr val="tx1"/>
                </a:solidFill>
                <a:effectLst/>
                <a:latin typeface="Montserrat" pitchFamily="2" charset="77"/>
                <a:ea typeface="Montserrat" pitchFamily="2" charset="77"/>
                <a:cs typeface="Montserrat" pitchFamily="2" charset="77"/>
              </a:defRPr>
            </a:lvl4pPr>
            <a:lvl5pPr marL="4113977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b="0" i="0" kern="1200" dirty="0">
                <a:solidFill>
                  <a:schemeClr val="tx1"/>
                </a:solidFill>
                <a:effectLst/>
                <a:latin typeface="Montserrat" pitchFamily="2" charset="77"/>
                <a:ea typeface="Montserrat" pitchFamily="2" charset="77"/>
                <a:cs typeface="Montserrat" pitchFamily="2" charset="77"/>
              </a:defRPr>
            </a:lvl5pPr>
            <a:lvl6pPr marL="5028194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1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14" indent="-342814">
              <a:buFont typeface="Arial" panose="020B0604020202020204" pitchFamily="34" charset="0"/>
              <a:buChar char="•"/>
            </a:pPr>
            <a:r>
              <a:rPr lang="en-US" sz="3200" kern="0" dirty="0">
                <a:solidFill>
                  <a:schemeClr val="tx2"/>
                </a:solidFill>
                <a:latin typeface="Montserrat" pitchFamily="2" charset="77"/>
                <a:ea typeface="+mn-ea"/>
                <a:cs typeface="+mn-cs"/>
              </a:rPr>
              <a:t>Lower billed and allowed claims</a:t>
            </a:r>
          </a:p>
          <a:p>
            <a:pPr marL="342814" indent="-342814">
              <a:buFont typeface="Arial" panose="020B0604020202020204" pitchFamily="34" charset="0"/>
              <a:buChar char="•"/>
            </a:pPr>
            <a:r>
              <a:rPr lang="en-US" sz="3200" kern="0" dirty="0">
                <a:solidFill>
                  <a:schemeClr val="tx2"/>
                </a:solidFill>
                <a:latin typeface="Montserrat" pitchFamily="2" charset="77"/>
                <a:ea typeface="+mn-ea"/>
                <a:cs typeface="+mn-cs"/>
              </a:rPr>
              <a:t>Self-service or a full-service model eliminating the need for any staffing on your part</a:t>
            </a:r>
          </a:p>
          <a:p>
            <a:pPr marL="342814" indent="-342814">
              <a:buFont typeface="Arial" panose="020B0604020202020204" pitchFamily="34" charset="0"/>
              <a:buChar char="•"/>
            </a:pPr>
            <a:r>
              <a:rPr lang="en-US" sz="3200" kern="0" dirty="0">
                <a:solidFill>
                  <a:schemeClr val="tx2"/>
                </a:solidFill>
                <a:latin typeface="Montserrat" pitchFamily="2" charset="77"/>
                <a:ea typeface="+mn-ea"/>
                <a:cs typeface="+mn-cs"/>
              </a:rPr>
              <a:t>Seamless integration with existing systems</a:t>
            </a:r>
          </a:p>
          <a:p>
            <a:pPr marL="342814" indent="-342814">
              <a:buFont typeface="Arial" panose="020B0604020202020204" pitchFamily="34" charset="0"/>
              <a:buChar char="•"/>
            </a:pPr>
            <a:r>
              <a:rPr lang="en-US" sz="3200" kern="0" dirty="0">
                <a:solidFill>
                  <a:schemeClr val="tx2"/>
                </a:solidFill>
                <a:latin typeface="Montserrat" pitchFamily="2" charset="77"/>
                <a:ea typeface="+mn-ea"/>
                <a:cs typeface="+mn-cs"/>
              </a:rPr>
              <a:t>End-to-end encryption and secure individual tenant</a:t>
            </a:r>
          </a:p>
          <a:p>
            <a:pPr marL="342814" indent="-342814"/>
            <a:endParaRPr lang="en-US" sz="3200" kern="0" dirty="0">
              <a:solidFill>
                <a:schemeClr val="tx2"/>
              </a:solidFill>
              <a:latin typeface="Montserrat" pitchFamily="2" charset="77"/>
              <a:ea typeface="+mn-ea"/>
              <a:cs typeface="+mn-cs"/>
            </a:endParaRPr>
          </a:p>
          <a:p>
            <a:pPr marL="342814" indent="-342814">
              <a:buFont typeface="Arial" panose="020B0604020202020204" pitchFamily="34" charset="0"/>
              <a:buChar char="•"/>
            </a:pPr>
            <a:endParaRPr lang="en-US" sz="3200" kern="0" dirty="0">
              <a:solidFill>
                <a:schemeClr val="tx2"/>
              </a:solidFill>
              <a:latin typeface="Montserrat" pitchFamily="2" charset="77"/>
              <a:ea typeface="+mn-ea"/>
              <a:cs typeface="+mn-cs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3200" kern="0" dirty="0">
              <a:solidFill>
                <a:schemeClr val="tx2"/>
              </a:solidFill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996739-DDD6-54B1-0DF5-18F130B020E5}"/>
              </a:ext>
            </a:extLst>
          </p:cNvPr>
          <p:cNvSpPr txBox="1"/>
          <p:nvPr/>
        </p:nvSpPr>
        <p:spPr>
          <a:xfrm>
            <a:off x="1593849" y="1676400"/>
            <a:ext cx="78599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500" kern="100" spc="600" dirty="0">
                <a:solidFill>
                  <a:schemeClr val="tx2"/>
                </a:solidFill>
                <a:latin typeface="Montserrat Medium" panose="00000600000000000000" pitchFamily="50" charset="-52"/>
              </a:rPr>
              <a:t>IMPLEMENTATION &amp; PRICING</a:t>
            </a:r>
            <a:endParaRPr lang="ru-RU" sz="2500" kern="100" spc="600" dirty="0">
              <a:solidFill>
                <a:schemeClr val="accent1"/>
              </a:solidFill>
              <a:latin typeface="Montserrat Medium" panose="00000600000000000000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654109-D9BF-EA1E-2C0A-AF4258A7089F}"/>
              </a:ext>
            </a:extLst>
          </p:cNvPr>
          <p:cNvSpPr txBox="1"/>
          <p:nvPr/>
        </p:nvSpPr>
        <p:spPr>
          <a:xfrm>
            <a:off x="1593849" y="2286000"/>
            <a:ext cx="119665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kern="100" dirty="0">
                <a:solidFill>
                  <a:srgbClr val="0C276D"/>
                </a:solidFill>
                <a:latin typeface="Charter Roman" panose="02040503050506020203" pitchFamily="18" charset="0"/>
              </a:rPr>
              <a:t>Implementation Process</a:t>
            </a:r>
            <a:endParaRPr lang="ru-RU" sz="8000" kern="100" dirty="0">
              <a:solidFill>
                <a:srgbClr val="0C276D"/>
              </a:solidFill>
              <a:latin typeface="Montserrat" panose="000005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589151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Rectangle 514">
            <a:extLst>
              <a:ext uri="{FF2B5EF4-FFF2-40B4-BE49-F238E27FC236}">
                <a16:creationId xmlns:a16="http://schemas.microsoft.com/office/drawing/2014/main" id="{3F96EE51-DC00-9AC0-4722-FB07D933F0D0}"/>
              </a:ext>
            </a:extLst>
          </p:cNvPr>
          <p:cNvSpPr/>
          <p:nvPr/>
        </p:nvSpPr>
        <p:spPr>
          <a:xfrm>
            <a:off x="-7296" y="6179"/>
            <a:ext cx="24384946" cy="46420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83A33-EA28-41B2-9DBE-0A848C236C0E}"/>
              </a:ext>
            </a:extLst>
          </p:cNvPr>
          <p:cNvSpPr txBox="1"/>
          <p:nvPr/>
        </p:nvSpPr>
        <p:spPr>
          <a:xfrm>
            <a:off x="1263751" y="1676400"/>
            <a:ext cx="1564947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kern="100" dirty="0">
                <a:solidFill>
                  <a:srgbClr val="0C276D"/>
                </a:solidFill>
                <a:latin typeface="Charter Roman" panose="02040503050506020203" pitchFamily="18" charset="0"/>
              </a:rPr>
              <a:t>[Major US Health System] – Multiple Organ</a:t>
            </a:r>
            <a:endParaRPr lang="ru-RU" sz="6600" kern="100" dirty="0">
              <a:solidFill>
                <a:srgbClr val="0C276D"/>
              </a:solidFill>
              <a:latin typeface="Montserrat" panose="00000500000000000000" pitchFamily="50" charset="-52"/>
            </a:endParaRPr>
          </a:p>
        </p:txBody>
      </p:sp>
      <p:sp>
        <p:nvSpPr>
          <p:cNvPr id="514" name="TextBox 5">
            <a:extLst>
              <a:ext uri="{FF2B5EF4-FFF2-40B4-BE49-F238E27FC236}">
                <a16:creationId xmlns:a16="http://schemas.microsoft.com/office/drawing/2014/main" id="{122412E1-AFD7-E469-DACD-9A4666174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3751" y="3505200"/>
            <a:ext cx="1437349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9pPr>
          </a:lstStyle>
          <a:p>
            <a:r>
              <a:rPr lang="en-US" altLang="ko-KR" dirty="0">
                <a:solidFill>
                  <a:schemeClr val="tx2"/>
                </a:solidFill>
                <a:latin typeface="Montserrat" pitchFamily="2" charset="77"/>
              </a:rPr>
              <a:t>COST ANALYSIS &amp; RECOMMENDATION</a:t>
            </a: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3F5C1F5E-F8B4-97A9-8F78-4E7208701FC1}"/>
              </a:ext>
            </a:extLst>
          </p:cNvPr>
          <p:cNvSpPr txBox="1"/>
          <p:nvPr/>
        </p:nvSpPr>
        <p:spPr>
          <a:xfrm>
            <a:off x="21561425" y="1681390"/>
            <a:ext cx="1866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500" kern="100" spc="600" dirty="0">
                <a:solidFill>
                  <a:schemeClr val="tx2"/>
                </a:solidFill>
                <a:latin typeface="Montserrat Medium" panose="00000600000000000000" pitchFamily="50" charset="-52"/>
              </a:rPr>
              <a:t>05</a:t>
            </a:r>
            <a:endParaRPr lang="ru-RU" sz="2500" kern="100" spc="600" dirty="0">
              <a:solidFill>
                <a:schemeClr val="accent1"/>
              </a:solidFill>
              <a:latin typeface="Montserrat Medium" panose="00000600000000000000" pitchFamily="50" charset="-52"/>
            </a:endParaRPr>
          </a:p>
        </p:txBody>
      </p:sp>
      <p:pic>
        <p:nvPicPr>
          <p:cNvPr id="517" name="Picture 516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34FDE05E-F642-4414-F766-D55BEB07712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1053" y="1295400"/>
            <a:ext cx="4348572" cy="1025058"/>
          </a:xfrm>
          <a:prstGeom prst="rect">
            <a:avLst/>
          </a:prstGeom>
        </p:spPr>
      </p:pic>
      <p:sp>
        <p:nvSpPr>
          <p:cNvPr id="522" name="TextBox 521">
            <a:extLst>
              <a:ext uri="{FF2B5EF4-FFF2-40B4-BE49-F238E27FC236}">
                <a16:creationId xmlns:a16="http://schemas.microsoft.com/office/drawing/2014/main" id="{CFC1BC25-2D51-AF29-7BD8-660CFC34D44F}"/>
              </a:ext>
            </a:extLst>
          </p:cNvPr>
          <p:cNvSpPr txBox="1"/>
          <p:nvPr/>
        </p:nvSpPr>
        <p:spPr>
          <a:xfrm>
            <a:off x="18062294" y="240193"/>
            <a:ext cx="6070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kern="0" dirty="0">
                <a:solidFill>
                  <a:schemeClr val="tx2"/>
                </a:solidFill>
                <a:latin typeface="Montserrat" pitchFamily="2" charset="77"/>
              </a:rPr>
              <a:t>PROPRIETARY AND CONFIDENTIAL</a:t>
            </a:r>
            <a:endParaRPr lang="en-US" dirty="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9673382-9E1F-9732-573E-9D8CC32CE179}"/>
              </a:ext>
            </a:extLst>
          </p:cNvPr>
          <p:cNvSpPr txBox="1">
            <a:spLocks/>
          </p:cNvSpPr>
          <p:nvPr/>
        </p:nvSpPr>
        <p:spPr>
          <a:xfrm>
            <a:off x="911225" y="11408115"/>
            <a:ext cx="21488399" cy="990600"/>
          </a:xfrm>
          <a:prstGeom prst="rect">
            <a:avLst/>
          </a:prstGeom>
        </p:spPr>
        <p:txBody>
          <a:bodyPr/>
          <a:lstStyle>
            <a:lvl1pPr marL="457109" indent="-457109" algn="l" defTabSz="1828434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lang="en-US" sz="4800" b="0" i="0" kern="1200" dirty="0" smtClean="0">
                <a:solidFill>
                  <a:schemeClr val="tx1"/>
                </a:solidFill>
                <a:effectLst/>
                <a:latin typeface="Charter Roman" panose="02040503050506020203" pitchFamily="18" charset="0"/>
                <a:ea typeface="Charter Roman" panose="02040503050506020203" pitchFamily="18" charset="0"/>
                <a:cs typeface="Charter Roman" panose="02040503050506020203" pitchFamily="18" charset="0"/>
              </a:defRPr>
            </a:lvl1pPr>
            <a:lvl2pPr marL="1371326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4000" b="1" i="0" kern="1200" spc="300" dirty="0" smtClean="0">
                <a:solidFill>
                  <a:schemeClr val="tx1"/>
                </a:solidFill>
                <a:effectLst/>
                <a:latin typeface="Montserrat SemiBold" pitchFamily="2" charset="77"/>
                <a:ea typeface="Montserrat SemiBold" pitchFamily="2" charset="77"/>
                <a:cs typeface="Montserrat SemiBold" pitchFamily="2" charset="77"/>
              </a:defRPr>
            </a:lvl2pPr>
            <a:lvl3pPr marL="2285543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600" b="0" i="0" kern="1200" dirty="0" smtClean="0">
                <a:solidFill>
                  <a:schemeClr val="tx1"/>
                </a:solidFill>
                <a:effectLst/>
                <a:latin typeface="Montserrat" pitchFamily="2" charset="77"/>
                <a:ea typeface="Montserrat" pitchFamily="2" charset="77"/>
                <a:cs typeface="Montserrat" pitchFamily="2" charset="77"/>
              </a:defRPr>
            </a:lvl3pPr>
            <a:lvl4pPr marL="3199760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b="0" i="0" kern="1200" dirty="0" smtClean="0">
                <a:solidFill>
                  <a:schemeClr val="tx1"/>
                </a:solidFill>
                <a:effectLst/>
                <a:latin typeface="Montserrat" pitchFamily="2" charset="77"/>
                <a:ea typeface="Montserrat" pitchFamily="2" charset="77"/>
                <a:cs typeface="Montserrat" pitchFamily="2" charset="77"/>
              </a:defRPr>
            </a:lvl4pPr>
            <a:lvl5pPr marL="4113977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b="0" i="0" kern="1200" dirty="0">
                <a:solidFill>
                  <a:schemeClr val="tx1"/>
                </a:solidFill>
                <a:effectLst/>
                <a:latin typeface="Montserrat" pitchFamily="2" charset="77"/>
                <a:ea typeface="Montserrat" pitchFamily="2" charset="77"/>
                <a:cs typeface="Montserrat" pitchFamily="2" charset="77"/>
              </a:defRPr>
            </a:lvl5pPr>
            <a:lvl6pPr marL="5028194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1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i="1" kern="0" dirty="0">
                <a:solidFill>
                  <a:schemeClr val="tx2"/>
                </a:solidFill>
                <a:latin typeface="Montserrat" pitchFamily="2" charset="77"/>
                <a:ea typeface="+mn-ea"/>
                <a:cs typeface="+mn-cs"/>
              </a:rPr>
              <a:t>Estimated charges at [client] across eight established networks were evaluated to determine the range of opportunity</a:t>
            </a:r>
          </a:p>
          <a:p>
            <a:pPr marL="0" indent="0" algn="ctr">
              <a:buNone/>
            </a:pPr>
            <a:r>
              <a:rPr lang="en-US" sz="4000" b="1" i="1" kern="0" dirty="0">
                <a:solidFill>
                  <a:schemeClr val="tx2"/>
                </a:solidFill>
                <a:latin typeface="Montserrat" pitchFamily="2" charset="77"/>
                <a:ea typeface="+mn-ea"/>
                <a:cs typeface="+mn-cs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4B819B-2FD4-41E4-8A59-85A77E1C5E51}"/>
              </a:ext>
            </a:extLst>
          </p:cNvPr>
          <p:cNvSpPr txBox="1"/>
          <p:nvPr/>
        </p:nvSpPr>
        <p:spPr>
          <a:xfrm>
            <a:off x="4088835" y="4884003"/>
            <a:ext cx="16002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kern="100" dirty="0">
                <a:solidFill>
                  <a:srgbClr val="0C276D"/>
                </a:solidFill>
                <a:latin typeface="Charter Roman" panose="02040503050506020203" pitchFamily="18" charset="0"/>
              </a:rPr>
              <a:t>Transplant Allowed Variances </a:t>
            </a:r>
            <a:endParaRPr lang="en-US" sz="4800" b="1" dirty="0">
              <a:solidFill>
                <a:srgbClr val="0C276D"/>
              </a:solidFill>
              <a:latin typeface="Charter Roman" panose="02040503050506020203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1B0DF5-73A3-3B3C-C691-2CDAF0AE7A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850077"/>
              </p:ext>
            </p:extLst>
          </p:nvPr>
        </p:nvGraphicFramePr>
        <p:xfrm>
          <a:off x="911225" y="6438825"/>
          <a:ext cx="21488399" cy="3178665"/>
        </p:xfrm>
        <a:graphic>
          <a:graphicData uri="http://schemas.openxmlformats.org/drawingml/2006/table">
            <a:tbl>
              <a:tblPr/>
              <a:tblGrid>
                <a:gridCol w="6846794">
                  <a:extLst>
                    <a:ext uri="{9D8B030D-6E8A-4147-A177-3AD203B41FA5}">
                      <a16:colId xmlns:a16="http://schemas.microsoft.com/office/drawing/2014/main" val="1689046873"/>
                    </a:ext>
                  </a:extLst>
                </a:gridCol>
                <a:gridCol w="3054724">
                  <a:extLst>
                    <a:ext uri="{9D8B030D-6E8A-4147-A177-3AD203B41FA5}">
                      <a16:colId xmlns:a16="http://schemas.microsoft.com/office/drawing/2014/main" val="2635274325"/>
                    </a:ext>
                  </a:extLst>
                </a:gridCol>
                <a:gridCol w="3686735">
                  <a:extLst>
                    <a:ext uri="{9D8B030D-6E8A-4147-A177-3AD203B41FA5}">
                      <a16:colId xmlns:a16="http://schemas.microsoft.com/office/drawing/2014/main" val="3433221227"/>
                    </a:ext>
                  </a:extLst>
                </a:gridCol>
                <a:gridCol w="3686735">
                  <a:extLst>
                    <a:ext uri="{9D8B030D-6E8A-4147-A177-3AD203B41FA5}">
                      <a16:colId xmlns:a16="http://schemas.microsoft.com/office/drawing/2014/main" val="2176068207"/>
                    </a:ext>
                  </a:extLst>
                </a:gridCol>
                <a:gridCol w="4213411">
                  <a:extLst>
                    <a:ext uri="{9D8B030D-6E8A-4147-A177-3AD203B41FA5}">
                      <a16:colId xmlns:a16="http://schemas.microsoft.com/office/drawing/2014/main" val="3835564110"/>
                    </a:ext>
                  </a:extLst>
                </a:gridCol>
              </a:tblGrid>
              <a:tr h="644926">
                <a:tc>
                  <a:txBody>
                    <a:bodyPr/>
                    <a:lstStyle/>
                    <a:p>
                      <a:pPr algn="l" fontAlgn="b"/>
                      <a:endParaRPr lang="en-US" sz="32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32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[Client]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32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47237"/>
                  </a:ext>
                </a:extLst>
              </a:tr>
              <a:tr h="12898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MS-DRG Description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MS-DRG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Opportunity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C7D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028797"/>
                  </a:ext>
                </a:extLst>
              </a:tr>
              <a:tr h="1243887">
                <a:tc>
                  <a:txBody>
                    <a:bodyPr/>
                    <a:lstStyle/>
                    <a:p>
                      <a:pPr algn="l" fontAlgn="b"/>
                      <a:r>
                        <a:rPr lang="en-US" sz="3600" b="0" i="0" u="none" strike="noStrike" dirty="0">
                          <a:effectLst/>
                          <a:latin typeface="Calibri" panose="020F0502020204030204" pitchFamily="34" charset="0"/>
                        </a:rPr>
                        <a:t>HEART AND LUNG TRANSPLANT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600" b="0" i="0" u="none" strike="noStrike" dirty="0">
                          <a:effectLst/>
                          <a:latin typeface="Century Gothic" panose="020B0502020202020204" pitchFamily="34" charset="0"/>
                        </a:rPr>
                        <a:t>MULTIPLE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$1,029,875.72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$3,243,820.81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$2,213,945.09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16079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4272D9E-B8EA-8040-9A9B-8F3F796D2DB2}"/>
              </a:ext>
            </a:extLst>
          </p:cNvPr>
          <p:cNvSpPr txBox="1"/>
          <p:nvPr/>
        </p:nvSpPr>
        <p:spPr>
          <a:xfrm>
            <a:off x="1019163" y="50174"/>
            <a:ext cx="103251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kern="100" dirty="0">
                <a:solidFill>
                  <a:srgbClr val="0C276D"/>
                </a:solidFill>
                <a:latin typeface="Charter Roman" panose="02040503050506020203" pitchFamily="18" charset="0"/>
              </a:rPr>
              <a:t>CASE STUDY</a:t>
            </a:r>
            <a:endParaRPr lang="ru-RU" sz="10000" kern="100" dirty="0">
              <a:solidFill>
                <a:srgbClr val="0C276D"/>
              </a:solidFill>
              <a:latin typeface="Montserrat" panose="000005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8321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F8137F2-84D1-4D9A-BAB6-BC17B01B54E8}"/>
              </a:ext>
            </a:extLst>
          </p:cNvPr>
          <p:cNvCxnSpPr>
            <a:cxnSpLocks/>
          </p:cNvCxnSpPr>
          <p:nvPr/>
        </p:nvCxnSpPr>
        <p:spPr>
          <a:xfrm flipH="1">
            <a:off x="1040222" y="12725400"/>
            <a:ext cx="214884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3B7B8DFF-3140-078B-2459-01089307B6D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6962" y="762000"/>
            <a:ext cx="3657600" cy="8621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50D3374-BF92-602D-B802-F40E7195D87F}"/>
              </a:ext>
            </a:extLst>
          </p:cNvPr>
          <p:cNvSpPr txBox="1"/>
          <p:nvPr/>
        </p:nvSpPr>
        <p:spPr>
          <a:xfrm>
            <a:off x="18062294" y="240193"/>
            <a:ext cx="6070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kern="0" dirty="0">
                <a:solidFill>
                  <a:schemeClr val="tx2"/>
                </a:solidFill>
                <a:latin typeface="Montserrat" pitchFamily="2" charset="77"/>
              </a:rPr>
              <a:t>PROPRIETARY AND CONFIDENTIAL</a:t>
            </a:r>
            <a:endParaRPr lang="en-US" dirty="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92E2E127-87E1-C29A-B146-725162033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1327" y="4377931"/>
            <a:ext cx="5867400" cy="501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i="1" kern="0" dirty="0">
                <a:solidFill>
                  <a:schemeClr val="tx2"/>
                </a:solidFill>
                <a:latin typeface="Montserrat" pitchFamily="2" charset="77"/>
              </a:rPr>
              <a:t>Analysis completed:  Friday, March 7, 2025</a:t>
            </a:r>
          </a:p>
        </p:txBody>
      </p:sp>
      <p:sp>
        <p:nvSpPr>
          <p:cNvPr id="23" name="TextBox 5">
            <a:extLst>
              <a:ext uri="{FF2B5EF4-FFF2-40B4-BE49-F238E27FC236}">
                <a16:creationId xmlns:a16="http://schemas.microsoft.com/office/drawing/2014/main" id="{EA5BD737-1AC8-D65E-78AB-5561E604A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65524" y="9142933"/>
            <a:ext cx="7239002" cy="3353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400" b="1" kern="0" dirty="0">
                <a:solidFill>
                  <a:schemeClr val="tx2"/>
                </a:solidFill>
                <a:latin typeface="Montserrat" pitchFamily="2" charset="77"/>
              </a:rPr>
              <a:t>Confidential #1 provides the lowest cost option in 100% of all simulations; with an expected savings of $512,941 at the 50</a:t>
            </a:r>
            <a:r>
              <a:rPr lang="en-US" sz="2400" b="1" kern="0" baseline="30000" dirty="0">
                <a:solidFill>
                  <a:schemeClr val="tx2"/>
                </a:solidFill>
                <a:latin typeface="Montserrat" pitchFamily="2" charset="77"/>
              </a:rPr>
              <a:t>th</a:t>
            </a:r>
            <a:r>
              <a:rPr lang="en-US" sz="2400" b="1" kern="0" dirty="0">
                <a:solidFill>
                  <a:schemeClr val="tx2"/>
                </a:solidFill>
                <a:latin typeface="Montserrat" pitchFamily="2" charset="77"/>
              </a:rPr>
              <a:t> percentile</a:t>
            </a:r>
          </a:p>
          <a:p>
            <a:pPr>
              <a:lnSpc>
                <a:spcPct val="150000"/>
              </a:lnSpc>
            </a:pPr>
            <a:endParaRPr lang="en-US" sz="2400" b="1" kern="0" dirty="0">
              <a:solidFill>
                <a:schemeClr val="tx2"/>
              </a:solidFill>
              <a:latin typeface="Montserrat" pitchFamily="2" charset="77"/>
            </a:endParaRPr>
          </a:p>
          <a:p>
            <a:pPr>
              <a:lnSpc>
                <a:spcPct val="150000"/>
              </a:lnSpc>
            </a:pPr>
            <a:r>
              <a:rPr lang="en-US" sz="2400" b="1" kern="0" dirty="0">
                <a:solidFill>
                  <a:schemeClr val="tx2"/>
                </a:solidFill>
                <a:latin typeface="Montserrat" pitchFamily="2" charset="77"/>
              </a:rPr>
              <a:t>What “looks good” is rarely the best option.</a:t>
            </a:r>
            <a:endParaRPr lang="en-US" sz="2400" kern="0" dirty="0">
              <a:solidFill>
                <a:schemeClr val="tx2"/>
              </a:solidFill>
              <a:latin typeface="Montserrat" pitchFamily="2" charset="77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AF2B27A2-4CAC-978E-B87F-FE33CF9DDF96}"/>
              </a:ext>
            </a:extLst>
          </p:cNvPr>
          <p:cNvGraphicFramePr>
            <a:graphicFrameLocks noGrp="1"/>
          </p:cNvGraphicFramePr>
          <p:nvPr/>
        </p:nvGraphicFramePr>
        <p:xfrm>
          <a:off x="16760825" y="5262092"/>
          <a:ext cx="6248401" cy="3424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2559">
                  <a:extLst>
                    <a:ext uri="{9D8B030D-6E8A-4147-A177-3AD203B41FA5}">
                      <a16:colId xmlns:a16="http://schemas.microsoft.com/office/drawing/2014/main" val="1816390778"/>
                    </a:ext>
                  </a:extLst>
                </a:gridCol>
                <a:gridCol w="1935842">
                  <a:extLst>
                    <a:ext uri="{9D8B030D-6E8A-4147-A177-3AD203B41FA5}">
                      <a16:colId xmlns:a16="http://schemas.microsoft.com/office/drawing/2014/main" val="2525184222"/>
                    </a:ext>
                  </a:extLst>
                </a:gridCol>
              </a:tblGrid>
              <a:tr h="407623">
                <a:tc>
                  <a:txBody>
                    <a:bodyPr/>
                    <a:lstStyle/>
                    <a:p>
                      <a:pPr marL="0" algn="l" defTabSz="1828434" rtl="0" eaLnBrk="1" latinLnBrk="0" hangingPunct="1"/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828434" rtl="0" eaLnBrk="1" latinLnBrk="0" hangingPunct="1"/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Billable Charges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337916"/>
                  </a:ext>
                </a:extLst>
              </a:tr>
              <a:tr h="407623">
                <a:tc>
                  <a:txBody>
                    <a:bodyPr/>
                    <a:lstStyle/>
                    <a:p>
                      <a:pPr marL="0" algn="l" defTabSz="1828434" rtl="0" eaLnBrk="1" latinLnBrk="0" hangingPunct="1"/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Evaluation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828434" rtl="0" eaLnBrk="1" latinLnBrk="0" hangingPunct="1"/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18909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algn="l" defTabSz="1828434" rtl="0" eaLnBrk="1" latinLnBrk="0" hangingPunct="1"/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Pre-Administration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828434" rtl="0" eaLnBrk="1" latinLnBrk="0" hangingPunct="1"/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$400,000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15476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algn="l" defTabSz="1828434" rtl="0" eaLnBrk="1" latinLnBrk="0" hangingPunct="1"/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 Transplant / Administration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noProof="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$1,20,000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3569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algn="l" defTabSz="1828434" rtl="0" eaLnBrk="1" latinLnBrk="0" hangingPunct="1"/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Post-Administration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noProof="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$700,000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28459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algn="l" defTabSz="1828434" rtl="0" eaLnBrk="1" latinLnBrk="0" hangingPunct="1"/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Additional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noProof="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28931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solidFill>
                            <a:srgbClr val="25194F"/>
                          </a:solidFill>
                          <a:effectLst/>
                          <a:latin typeface="NotoSans"/>
                        </a:rPr>
                        <a:t>Biologic</a:t>
                      </a:r>
                      <a:endParaRPr lang="en-US" sz="20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noProof="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269901"/>
                  </a:ext>
                </a:extLst>
              </a:tr>
              <a:tr h="567302"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solidFill>
                            <a:srgbClr val="25194F"/>
                          </a:solidFill>
                          <a:effectLst/>
                          <a:latin typeface="NotoSans"/>
                        </a:rPr>
                        <a:t>Length of Stay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noProof="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60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244027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0570465C-9949-B2D6-0EB0-F99C38391800}"/>
              </a:ext>
            </a:extLst>
          </p:cNvPr>
          <p:cNvGraphicFramePr>
            <a:graphicFrameLocks noGrp="1"/>
          </p:cNvGraphicFramePr>
          <p:nvPr/>
        </p:nvGraphicFramePr>
        <p:xfrm>
          <a:off x="1235152" y="8630088"/>
          <a:ext cx="13741173" cy="3866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0391">
                  <a:extLst>
                    <a:ext uri="{9D8B030D-6E8A-4147-A177-3AD203B41FA5}">
                      <a16:colId xmlns:a16="http://schemas.microsoft.com/office/drawing/2014/main" val="2742508272"/>
                    </a:ext>
                  </a:extLst>
                </a:gridCol>
                <a:gridCol w="4580391">
                  <a:extLst>
                    <a:ext uri="{9D8B030D-6E8A-4147-A177-3AD203B41FA5}">
                      <a16:colId xmlns:a16="http://schemas.microsoft.com/office/drawing/2014/main" val="3192699323"/>
                    </a:ext>
                  </a:extLst>
                </a:gridCol>
                <a:gridCol w="4580391">
                  <a:extLst>
                    <a:ext uri="{9D8B030D-6E8A-4147-A177-3AD203B41FA5}">
                      <a16:colId xmlns:a16="http://schemas.microsoft.com/office/drawing/2014/main" val="1131069401"/>
                    </a:ext>
                  </a:extLst>
                </a:gridCol>
              </a:tblGrid>
              <a:tr h="320399">
                <a:tc>
                  <a:txBody>
                    <a:bodyPr/>
                    <a:lstStyle/>
                    <a:p>
                      <a:pPr marL="0" algn="l" defTabSz="1828434" rtl="0" eaLnBrk="1" latinLnBrk="0" hangingPunct="1"/>
                      <a:endParaRPr lang="en-US" sz="1600" b="1" i="0" kern="1200" dirty="0">
                        <a:solidFill>
                          <a:srgbClr val="25194F"/>
                        </a:solidFill>
                        <a:effectLst/>
                        <a:latin typeface="NotoSans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MC:  Confidential #1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MC: Confidential  #2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549888"/>
                  </a:ext>
                </a:extLst>
              </a:tr>
              <a:tr h="342344">
                <a:tc>
                  <a:txBody>
                    <a:bodyPr/>
                    <a:lstStyle/>
                    <a:p>
                      <a:pPr marL="0" algn="l" defTabSz="1828434" rtl="0" eaLnBrk="1" latinLnBrk="0" hangingPunct="1"/>
                      <a:r>
                        <a:rPr lang="en-US" sz="18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Total Simulated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44.6% Savings ($512,941)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B050">
                            <a:tint val="66000"/>
                            <a:satMod val="160000"/>
                          </a:srgbClr>
                        </a:gs>
                        <a:gs pos="50000">
                          <a:srgbClr val="00B050">
                            <a:tint val="44500"/>
                            <a:satMod val="160000"/>
                          </a:srgbClr>
                        </a:gs>
                        <a:gs pos="100000">
                          <a:srgbClr val="00B05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Max Cost ($0)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6608719"/>
                  </a:ext>
                </a:extLst>
              </a:tr>
              <a:tr h="402855">
                <a:tc>
                  <a:txBody>
                    <a:bodyPr/>
                    <a:lstStyle/>
                    <a:p>
                      <a:pPr marL="0" algn="l" defTabSz="1828434" rtl="0" eaLnBrk="1" latinLnBrk="0" hangingPunct="1"/>
                      <a:r>
                        <a:rPr lang="en-US" sz="18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Pre-Administration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Max Cost ($0)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1.3% Savings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26461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algn="l" defTabSz="1828434" rtl="0" eaLnBrk="1" latinLnBrk="0" hangingPunct="1"/>
                      <a:r>
                        <a:rPr lang="en-US" sz="18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 Transplant / Administration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Max Cost ($0)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37.5% Savings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6026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algn="l" defTabSz="1828434" rtl="0" eaLnBrk="1" latinLnBrk="0" hangingPunct="1"/>
                      <a:r>
                        <a:rPr lang="en-US" sz="18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Post-Administration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Max Cost ($0)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11.2% Savings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3068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algn="l" defTabSz="1828434" rtl="0" eaLnBrk="1" latinLnBrk="0" hangingPunct="1"/>
                      <a:r>
                        <a:rPr lang="en-US" sz="18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Per Diem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13043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800" b="1" i="0" dirty="0">
                          <a:solidFill>
                            <a:srgbClr val="25194F"/>
                          </a:solidFill>
                          <a:effectLst/>
                          <a:latin typeface="NotoSans"/>
                        </a:rPr>
                        <a:t>Biologic</a:t>
                      </a:r>
                      <a:endParaRPr lang="en-US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EQUAL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EQUAL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01815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800" b="1" i="0" dirty="0">
                          <a:solidFill>
                            <a:srgbClr val="25194F"/>
                          </a:solidFill>
                          <a:effectLst/>
                          <a:latin typeface="NotoSans"/>
                        </a:rPr>
                        <a:t>Outlier Triggered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021542"/>
                  </a:ext>
                </a:extLst>
              </a:tr>
              <a:tr h="553017">
                <a:tc>
                  <a:txBody>
                    <a:bodyPr/>
                    <a:lstStyle/>
                    <a:p>
                      <a:pPr marL="0" algn="l" defTabSz="1828434" rtl="0" eaLnBrk="1" latinLnBrk="0" hangingPunct="1"/>
                      <a:r>
                        <a:rPr lang="en-US" sz="18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Minimum Payment Provision Triggered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rgbClr val="25194F"/>
                          </a:solidFill>
                          <a:effectLst/>
                          <a:latin typeface="NotoSans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837808"/>
                  </a:ext>
                </a:extLst>
              </a:tr>
            </a:tbl>
          </a:graphicData>
        </a:graphic>
      </p:graphicFrame>
      <p:sp>
        <p:nvSpPr>
          <p:cNvPr id="32" name="TextBox 5">
            <a:extLst>
              <a:ext uri="{FF2B5EF4-FFF2-40B4-BE49-F238E27FC236}">
                <a16:creationId xmlns:a16="http://schemas.microsoft.com/office/drawing/2014/main" id="{360308E5-0B80-5DC1-A7F3-84DBC556B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5416" y="7839907"/>
            <a:ext cx="2830009" cy="501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i="1" kern="0" dirty="0">
                <a:solidFill>
                  <a:schemeClr val="tx2"/>
                </a:solidFill>
                <a:latin typeface="Montserrat" pitchFamily="2" charset="77"/>
              </a:rPr>
              <a:t>50</a:t>
            </a:r>
            <a:r>
              <a:rPr lang="en-US" sz="2000" i="1" kern="0" baseline="30000" dirty="0">
                <a:solidFill>
                  <a:schemeClr val="tx2"/>
                </a:solidFill>
                <a:latin typeface="Montserrat" pitchFamily="2" charset="77"/>
              </a:rPr>
              <a:t>th</a:t>
            </a:r>
            <a:r>
              <a:rPr lang="en-US" sz="2000" i="1" kern="0" dirty="0">
                <a:solidFill>
                  <a:schemeClr val="tx2"/>
                </a:solidFill>
                <a:latin typeface="Montserrat" pitchFamily="2" charset="77"/>
              </a:rPr>
              <a:t> Percentile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5FC02D-2926-3AFB-45A4-013E7650C485}"/>
              </a:ext>
            </a:extLst>
          </p:cNvPr>
          <p:cNvSpPr txBox="1"/>
          <p:nvPr/>
        </p:nvSpPr>
        <p:spPr>
          <a:xfrm>
            <a:off x="911225" y="1577590"/>
            <a:ext cx="120046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kern="100" dirty="0">
                <a:solidFill>
                  <a:srgbClr val="0C276D"/>
                </a:solidFill>
                <a:latin typeface="Charter Roman" panose="02040503050506020203" pitchFamily="18" charset="0"/>
              </a:rPr>
              <a:t>Transplant – Heart + Lung</a:t>
            </a:r>
            <a:endParaRPr lang="ru-RU" sz="7200" kern="100" dirty="0">
              <a:solidFill>
                <a:srgbClr val="0C276D"/>
              </a:solidFill>
              <a:latin typeface="Montserrat" panose="00000500000000000000" pitchFamily="50" charset="-5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941980-F834-FC27-64C2-9A737CD1F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625" y="3265512"/>
            <a:ext cx="13531699" cy="454291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C577192-E7CA-5EB2-090E-CEDFEF137171}"/>
              </a:ext>
            </a:extLst>
          </p:cNvPr>
          <p:cNvSpPr/>
          <p:nvPr/>
        </p:nvSpPr>
        <p:spPr>
          <a:xfrm>
            <a:off x="1475119" y="3810004"/>
            <a:ext cx="4312905" cy="431090"/>
          </a:xfrm>
          <a:prstGeom prst="rect">
            <a:avLst/>
          </a:prstGeom>
          <a:solidFill>
            <a:srgbClr val="FBFF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utoShape 4" descr="Image preview">
            <a:extLst>
              <a:ext uri="{FF2B5EF4-FFF2-40B4-BE49-F238E27FC236}">
                <a16:creationId xmlns:a16="http://schemas.microsoft.com/office/drawing/2014/main" id="{43055658-A8CB-180A-0A45-7D2C9EC03A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6425" y="765881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175316-C977-6403-CF81-4D89D7D366BD}"/>
              </a:ext>
            </a:extLst>
          </p:cNvPr>
          <p:cNvSpPr txBox="1"/>
          <p:nvPr/>
        </p:nvSpPr>
        <p:spPr>
          <a:xfrm>
            <a:off x="16963392" y="2628733"/>
            <a:ext cx="61638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[Client Confidential]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1142C3-0AF9-D050-54F7-656901AE3BD4}"/>
              </a:ext>
            </a:extLst>
          </p:cNvPr>
          <p:cNvSpPr/>
          <p:nvPr/>
        </p:nvSpPr>
        <p:spPr>
          <a:xfrm>
            <a:off x="6854825" y="9509760"/>
            <a:ext cx="2667000" cy="12344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E58D00-6659-036F-F9FD-55A1F8D1DA1A}"/>
              </a:ext>
            </a:extLst>
          </p:cNvPr>
          <p:cNvSpPr txBox="1"/>
          <p:nvPr/>
        </p:nvSpPr>
        <p:spPr>
          <a:xfrm>
            <a:off x="838778" y="3388"/>
            <a:ext cx="103251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kern="100" dirty="0">
                <a:solidFill>
                  <a:srgbClr val="0C276D"/>
                </a:solidFill>
                <a:latin typeface="Charter Roman" panose="02040503050506020203" pitchFamily="18" charset="0"/>
              </a:rPr>
              <a:t>CASE STUDY</a:t>
            </a:r>
            <a:endParaRPr lang="ru-RU" sz="10000" kern="100" dirty="0">
              <a:solidFill>
                <a:srgbClr val="0C276D"/>
              </a:solidFill>
              <a:latin typeface="Montserrat" panose="00000500000000000000" pitchFamily="50" charset="-5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1F27C1-F636-1D36-FAEF-5E052BFF3FEF}"/>
              </a:ext>
            </a:extLst>
          </p:cNvPr>
          <p:cNvSpPr txBox="1"/>
          <p:nvPr/>
        </p:nvSpPr>
        <p:spPr>
          <a:xfrm>
            <a:off x="21599525" y="1752600"/>
            <a:ext cx="1866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500" kern="100" spc="600" dirty="0">
                <a:solidFill>
                  <a:schemeClr val="tx2"/>
                </a:solidFill>
                <a:latin typeface="Montserrat Medium" panose="00000600000000000000" pitchFamily="50" charset="-52"/>
              </a:rPr>
              <a:t>06</a:t>
            </a:r>
            <a:endParaRPr lang="ru-RU" sz="2500" kern="100" spc="600" dirty="0">
              <a:solidFill>
                <a:schemeClr val="accent1"/>
              </a:solidFill>
              <a:latin typeface="Montserrat Medium" panose="000006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85882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A person typing on a computer&#10;&#10;Description automatically generated">
            <a:extLst>
              <a:ext uri="{FF2B5EF4-FFF2-40B4-BE49-F238E27FC236}">
                <a16:creationId xmlns:a16="http://schemas.microsoft.com/office/drawing/2014/main" id="{7474BD91-28EC-3645-9002-1614967B5CB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" r="269"/>
          <a:stretch>
            <a:fillRect/>
          </a:stretch>
        </p:blipFill>
        <p:spPr/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2570A1C-0A55-4080-84D8-1B110B1FCB63}"/>
              </a:ext>
            </a:extLst>
          </p:cNvPr>
          <p:cNvSpPr txBox="1"/>
          <p:nvPr/>
        </p:nvSpPr>
        <p:spPr>
          <a:xfrm>
            <a:off x="4568825" y="10977067"/>
            <a:ext cx="5276048" cy="1128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3000" b="1" spc="300" dirty="0">
                <a:solidFill>
                  <a:schemeClr val="tx2"/>
                </a:solidFill>
                <a:latin typeface="Montserrat SemiBold" pitchFamily="2" charset="77"/>
                <a:ea typeface="Open Sans Semibold" panose="020B0706030804020204" pitchFamily="34" charset="0"/>
                <a:cs typeface="Open Sans Semibold" panose="020B0706030804020204" pitchFamily="34" charset="0"/>
              </a:rPr>
              <a:t>JEFF SAGE</a:t>
            </a:r>
          </a:p>
          <a:p>
            <a:pPr>
              <a:lnSpc>
                <a:spcPct val="130000"/>
              </a:lnSpc>
            </a:pPr>
            <a:r>
              <a:rPr lang="en-US" sz="2400" spc="300" dirty="0">
                <a:solidFill>
                  <a:schemeClr val="tx2"/>
                </a:solidFill>
                <a:latin typeface="Montserrat" pitchFamily="2" charset="77"/>
                <a:ea typeface="Open Sans Semibold" panose="020B0706030804020204" pitchFamily="34" charset="0"/>
                <a:cs typeface="Open Sans Semibold" panose="020B0706030804020204" pitchFamily="34" charset="0"/>
              </a:rPr>
              <a:t>Chief Technology Officer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C343FD-C5FF-4EFF-8C91-CFE754A0459F}"/>
              </a:ext>
            </a:extLst>
          </p:cNvPr>
          <p:cNvSpPr txBox="1"/>
          <p:nvPr/>
        </p:nvSpPr>
        <p:spPr>
          <a:xfrm>
            <a:off x="11503025" y="11234005"/>
            <a:ext cx="5650719" cy="63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3000" spc="300" dirty="0">
                <a:solidFill>
                  <a:schemeClr val="tx2"/>
                </a:solidFill>
                <a:latin typeface="Montserrat SemiBold" pitchFamily="2" charset="77"/>
                <a:ea typeface="Open Sans Semibold" panose="020B0706030804020204" pitchFamily="34" charset="0"/>
                <a:cs typeface="Open Sans Semibold" panose="020B0706030804020204" pitchFamily="34" charset="0"/>
              </a:rPr>
              <a:t>JEFF@HEALTHRATE.IO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243A3B-F7F6-40E3-B2A2-FC087144646F}"/>
              </a:ext>
            </a:extLst>
          </p:cNvPr>
          <p:cNvSpPr txBox="1"/>
          <p:nvPr/>
        </p:nvSpPr>
        <p:spPr>
          <a:xfrm>
            <a:off x="18885598" y="11317718"/>
            <a:ext cx="47164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tx2"/>
                </a:solidFill>
                <a:latin typeface="Montserrat SemiBold" pitchFamily="2" charset="77"/>
              </a:rPr>
              <a:t>303-877-9067</a:t>
            </a:r>
          </a:p>
        </p:txBody>
      </p:sp>
      <p:sp>
        <p:nvSpPr>
          <p:cNvPr id="38" name="Прямоугольник 29">
            <a:extLst>
              <a:ext uri="{FF2B5EF4-FFF2-40B4-BE49-F238E27FC236}">
                <a16:creationId xmlns:a16="http://schemas.microsoft.com/office/drawing/2014/main" id="{DF47E0D0-8BF2-41D7-879F-FB9C2A839FD7}"/>
              </a:ext>
            </a:extLst>
          </p:cNvPr>
          <p:cNvSpPr/>
          <p:nvPr/>
        </p:nvSpPr>
        <p:spPr>
          <a:xfrm>
            <a:off x="0" y="0"/>
            <a:ext cx="24377648" cy="9296400"/>
          </a:xfrm>
          <a:prstGeom prst="rect">
            <a:avLst/>
          </a:prstGeom>
          <a:solidFill>
            <a:schemeClr val="tx1">
              <a:lumMod val="20000"/>
              <a:lumOff val="80000"/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3A2F30E-6A7B-4458-BEA3-AF09274DD209}"/>
              </a:ext>
            </a:extLst>
          </p:cNvPr>
          <p:cNvGrpSpPr/>
          <p:nvPr/>
        </p:nvGrpSpPr>
        <p:grpSpPr>
          <a:xfrm>
            <a:off x="8596215" y="5237215"/>
            <a:ext cx="7224181" cy="2278188"/>
            <a:chOff x="8576736" y="4312384"/>
            <a:chExt cx="7224181" cy="2278188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13B9F75-55DB-444A-8E0A-D8E64858D544}"/>
                </a:ext>
              </a:extLst>
            </p:cNvPr>
            <p:cNvSpPr txBox="1"/>
            <p:nvPr/>
          </p:nvSpPr>
          <p:spPr>
            <a:xfrm>
              <a:off x="8576737" y="4312384"/>
              <a:ext cx="722418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0" kern="100" dirty="0">
                  <a:solidFill>
                    <a:srgbClr val="0C276D"/>
                  </a:solidFill>
                  <a:latin typeface="Charter Roman" panose="02040503050506020203" pitchFamily="18" charset="0"/>
                </a:rPr>
                <a:t>Thank you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69A3084-0D44-414E-B40B-B8D6A18F7F62}"/>
                </a:ext>
              </a:extLst>
            </p:cNvPr>
            <p:cNvSpPr txBox="1"/>
            <p:nvPr/>
          </p:nvSpPr>
          <p:spPr>
            <a:xfrm>
              <a:off x="8576736" y="6190462"/>
              <a:ext cx="72241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500" kern="100" spc="600" dirty="0">
                  <a:solidFill>
                    <a:schemeClr val="tx2"/>
                  </a:solidFill>
                  <a:latin typeface="Montserrat Medium" panose="00000600000000000000" pitchFamily="50" charset="-52"/>
                </a:rPr>
                <a:t>FOR YOUR TIME</a:t>
              </a:r>
              <a:endParaRPr lang="ru-RU" sz="2500" kern="100" spc="600" dirty="0">
                <a:solidFill>
                  <a:schemeClr val="accent1"/>
                </a:solidFill>
                <a:latin typeface="Montserrat Medium" panose="00000600000000000000" pitchFamily="50" charset="-52"/>
              </a:endParaRPr>
            </a:p>
          </p:txBody>
        </p:sp>
      </p:grpSp>
      <p:pic>
        <p:nvPicPr>
          <p:cNvPr id="15" name="Picture 14" descr="A blue cross with a graph in a circle&#10;&#10;Description automatically generated">
            <a:extLst>
              <a:ext uri="{FF2B5EF4-FFF2-40B4-BE49-F238E27FC236}">
                <a16:creationId xmlns:a16="http://schemas.microsoft.com/office/drawing/2014/main" id="{A84A07E4-AEEC-5845-AF48-4D3121A705A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3564" y="2007393"/>
            <a:ext cx="2770519" cy="2712281"/>
          </a:xfrm>
          <a:prstGeom prst="rect">
            <a:avLst/>
          </a:prstGeom>
        </p:spPr>
      </p:pic>
      <p:grpSp>
        <p:nvGrpSpPr>
          <p:cNvPr id="17" name="Group 16" descr="Icon Person">
            <a:extLst>
              <a:ext uri="{FF2B5EF4-FFF2-40B4-BE49-F238E27FC236}">
                <a16:creationId xmlns:a16="http://schemas.microsoft.com/office/drawing/2014/main" id="{F01C9226-DD60-754B-BA38-2CB5CC8D63C2}"/>
              </a:ext>
            </a:extLst>
          </p:cNvPr>
          <p:cNvGrpSpPr/>
          <p:nvPr/>
        </p:nvGrpSpPr>
        <p:grpSpPr>
          <a:xfrm>
            <a:off x="2682027" y="10880562"/>
            <a:ext cx="1348229" cy="1348229"/>
            <a:chOff x="1334697" y="4580661"/>
            <a:chExt cx="360000" cy="36000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AC69063-D030-D74D-BEAF-949B4297465D}"/>
                </a:ext>
              </a:extLst>
            </p:cNvPr>
            <p:cNvGrpSpPr/>
            <p:nvPr/>
          </p:nvGrpSpPr>
          <p:grpSpPr>
            <a:xfrm>
              <a:off x="1421012" y="4633770"/>
              <a:ext cx="180975" cy="231458"/>
              <a:chOff x="1443237" y="4633770"/>
              <a:chExt cx="180975" cy="231458"/>
            </a:xfrm>
          </p:grpSpPr>
          <p:sp>
            <p:nvSpPr>
              <p:cNvPr id="20" name="Freeform: Shape 57">
                <a:extLst>
                  <a:ext uri="{FF2B5EF4-FFF2-40B4-BE49-F238E27FC236}">
                    <a16:creationId xmlns:a16="http://schemas.microsoft.com/office/drawing/2014/main" id="{7B5D96CD-6C00-6F40-A447-E2CB8D01A4F3}"/>
                  </a:ext>
                </a:extLst>
              </p:cNvPr>
              <p:cNvSpPr/>
              <p:nvPr/>
            </p:nvSpPr>
            <p:spPr>
              <a:xfrm>
                <a:off x="1478479" y="4633770"/>
                <a:ext cx="114300" cy="114300"/>
              </a:xfrm>
              <a:custGeom>
                <a:avLst/>
                <a:gdLst>
                  <a:gd name="connsiteX0" fmla="*/ 118110 w 114300"/>
                  <a:gd name="connsiteY0" fmla="*/ 59055 h 114300"/>
                  <a:gd name="connsiteX1" fmla="*/ 59055 w 114300"/>
                  <a:gd name="connsiteY1" fmla="*/ 118110 h 114300"/>
                  <a:gd name="connsiteX2" fmla="*/ 0 w 114300"/>
                  <a:gd name="connsiteY2" fmla="*/ 59055 h 114300"/>
                  <a:gd name="connsiteX3" fmla="*/ 59055 w 114300"/>
                  <a:gd name="connsiteY3" fmla="*/ 0 h 114300"/>
                  <a:gd name="connsiteX4" fmla="*/ 118110 w 114300"/>
                  <a:gd name="connsiteY4" fmla="*/ 59055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8110" y="59055"/>
                    </a:moveTo>
                    <a:cubicBezTo>
                      <a:pt x="118110" y="91440"/>
                      <a:pt x="91440" y="118110"/>
                      <a:pt x="59055" y="118110"/>
                    </a:cubicBezTo>
                    <a:cubicBezTo>
                      <a:pt x="26670" y="118110"/>
                      <a:pt x="0" y="91440"/>
                      <a:pt x="0" y="59055"/>
                    </a:cubicBezTo>
                    <a:cubicBezTo>
                      <a:pt x="0" y="26670"/>
                      <a:pt x="26670" y="0"/>
                      <a:pt x="59055" y="0"/>
                    </a:cubicBezTo>
                    <a:cubicBezTo>
                      <a:pt x="91440" y="0"/>
                      <a:pt x="118110" y="25718"/>
                      <a:pt x="118110" y="59055"/>
                    </a:cubicBezTo>
                    <a:close/>
                  </a:path>
                </a:pathLst>
              </a:custGeom>
              <a:noFill/>
              <a:ln w="23813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: Shape 58">
                <a:extLst>
                  <a:ext uri="{FF2B5EF4-FFF2-40B4-BE49-F238E27FC236}">
                    <a16:creationId xmlns:a16="http://schemas.microsoft.com/office/drawing/2014/main" id="{A5DA8308-CB18-1145-A0C2-A72DD9C75ADF}"/>
                  </a:ext>
                </a:extLst>
              </p:cNvPr>
              <p:cNvSpPr/>
              <p:nvPr/>
            </p:nvSpPr>
            <p:spPr>
              <a:xfrm>
                <a:off x="1443237" y="4798553"/>
                <a:ext cx="180975" cy="66675"/>
              </a:xfrm>
              <a:custGeom>
                <a:avLst/>
                <a:gdLst>
                  <a:gd name="connsiteX0" fmla="*/ 0 w 180975"/>
                  <a:gd name="connsiteY0" fmla="*/ 72390 h 66675"/>
                  <a:gd name="connsiteX1" fmla="*/ 94298 w 180975"/>
                  <a:gd name="connsiteY1" fmla="*/ 0 h 66675"/>
                  <a:gd name="connsiteX2" fmla="*/ 188595 w 180975"/>
                  <a:gd name="connsiteY2" fmla="*/ 7239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0975" h="66675">
                    <a:moveTo>
                      <a:pt x="0" y="72390"/>
                    </a:moveTo>
                    <a:cubicBezTo>
                      <a:pt x="0" y="20955"/>
                      <a:pt x="41910" y="0"/>
                      <a:pt x="94298" y="0"/>
                    </a:cubicBezTo>
                    <a:cubicBezTo>
                      <a:pt x="146685" y="0"/>
                      <a:pt x="188595" y="20955"/>
                      <a:pt x="188595" y="72390"/>
                    </a:cubicBezTo>
                  </a:path>
                </a:pathLst>
              </a:custGeom>
              <a:noFill/>
              <a:ln w="23813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19" name="Freeform: Shape 56">
              <a:extLst>
                <a:ext uri="{FF2B5EF4-FFF2-40B4-BE49-F238E27FC236}">
                  <a16:creationId xmlns:a16="http://schemas.microsoft.com/office/drawing/2014/main" id="{5AD9E4F2-FCC7-7841-8F0B-9DD612891672}"/>
                </a:ext>
              </a:extLst>
            </p:cNvPr>
            <p:cNvSpPr/>
            <p:nvPr/>
          </p:nvSpPr>
          <p:spPr>
            <a:xfrm>
              <a:off x="1334697" y="4580661"/>
              <a:ext cx="360000" cy="360000"/>
            </a:xfrm>
            <a:custGeom>
              <a:avLst/>
              <a:gdLst>
                <a:gd name="connsiteX0" fmla="*/ 0 w 360000"/>
                <a:gd name="connsiteY0" fmla="*/ 0 h 360000"/>
                <a:gd name="connsiteX1" fmla="*/ 83322 w 360000"/>
                <a:gd name="connsiteY1" fmla="*/ 0 h 360000"/>
                <a:gd name="connsiteX2" fmla="*/ 83322 w 360000"/>
                <a:gd name="connsiteY2" fmla="*/ 68850 h 360000"/>
                <a:gd name="connsiteX3" fmla="*/ 276679 w 360000"/>
                <a:gd name="connsiteY3" fmla="*/ 68850 h 360000"/>
                <a:gd name="connsiteX4" fmla="*/ 276679 w 360000"/>
                <a:gd name="connsiteY4" fmla="*/ 0 h 360000"/>
                <a:gd name="connsiteX5" fmla="*/ 360000 w 360000"/>
                <a:gd name="connsiteY5" fmla="*/ 0 h 360000"/>
                <a:gd name="connsiteX6" fmla="*/ 360000 w 360000"/>
                <a:gd name="connsiteY6" fmla="*/ 360000 h 360000"/>
                <a:gd name="connsiteX7" fmla="*/ 0 w 360000"/>
                <a:gd name="connsiteY7" fmla="*/ 360000 h 360000"/>
                <a:gd name="connsiteX0" fmla="*/ 276679 w 368119"/>
                <a:gd name="connsiteY0" fmla="*/ 68850 h 360000"/>
                <a:gd name="connsiteX1" fmla="*/ 276679 w 368119"/>
                <a:gd name="connsiteY1" fmla="*/ 0 h 360000"/>
                <a:gd name="connsiteX2" fmla="*/ 360000 w 368119"/>
                <a:gd name="connsiteY2" fmla="*/ 0 h 360000"/>
                <a:gd name="connsiteX3" fmla="*/ 360000 w 368119"/>
                <a:gd name="connsiteY3" fmla="*/ 360000 h 360000"/>
                <a:gd name="connsiteX4" fmla="*/ 0 w 368119"/>
                <a:gd name="connsiteY4" fmla="*/ 360000 h 360000"/>
                <a:gd name="connsiteX5" fmla="*/ 0 w 368119"/>
                <a:gd name="connsiteY5" fmla="*/ 0 h 360000"/>
                <a:gd name="connsiteX6" fmla="*/ 83322 w 368119"/>
                <a:gd name="connsiteY6" fmla="*/ 0 h 360000"/>
                <a:gd name="connsiteX7" fmla="*/ 83322 w 368119"/>
                <a:gd name="connsiteY7" fmla="*/ 68850 h 360000"/>
                <a:gd name="connsiteX8" fmla="*/ 368119 w 368119"/>
                <a:gd name="connsiteY8" fmla="*/ 160290 h 360000"/>
                <a:gd name="connsiteX0" fmla="*/ 276679 w 360000"/>
                <a:gd name="connsiteY0" fmla="*/ 68850 h 360000"/>
                <a:gd name="connsiteX1" fmla="*/ 276679 w 360000"/>
                <a:gd name="connsiteY1" fmla="*/ 0 h 360000"/>
                <a:gd name="connsiteX2" fmla="*/ 360000 w 360000"/>
                <a:gd name="connsiteY2" fmla="*/ 0 h 360000"/>
                <a:gd name="connsiteX3" fmla="*/ 360000 w 360000"/>
                <a:gd name="connsiteY3" fmla="*/ 360000 h 360000"/>
                <a:gd name="connsiteX4" fmla="*/ 0 w 360000"/>
                <a:gd name="connsiteY4" fmla="*/ 360000 h 360000"/>
                <a:gd name="connsiteX5" fmla="*/ 0 w 360000"/>
                <a:gd name="connsiteY5" fmla="*/ 0 h 360000"/>
                <a:gd name="connsiteX6" fmla="*/ 83322 w 360000"/>
                <a:gd name="connsiteY6" fmla="*/ 0 h 360000"/>
                <a:gd name="connsiteX7" fmla="*/ 83322 w 360000"/>
                <a:gd name="connsiteY7" fmla="*/ 68850 h 360000"/>
                <a:gd name="connsiteX0" fmla="*/ 276679 w 360000"/>
                <a:gd name="connsiteY0" fmla="*/ 68850 h 360000"/>
                <a:gd name="connsiteX1" fmla="*/ 276679 w 360000"/>
                <a:gd name="connsiteY1" fmla="*/ 0 h 360000"/>
                <a:gd name="connsiteX2" fmla="*/ 360000 w 360000"/>
                <a:gd name="connsiteY2" fmla="*/ 0 h 360000"/>
                <a:gd name="connsiteX3" fmla="*/ 360000 w 360000"/>
                <a:gd name="connsiteY3" fmla="*/ 360000 h 360000"/>
                <a:gd name="connsiteX4" fmla="*/ 0 w 360000"/>
                <a:gd name="connsiteY4" fmla="*/ 360000 h 360000"/>
                <a:gd name="connsiteX5" fmla="*/ 0 w 360000"/>
                <a:gd name="connsiteY5" fmla="*/ 0 h 360000"/>
                <a:gd name="connsiteX6" fmla="*/ 83322 w 360000"/>
                <a:gd name="connsiteY6" fmla="*/ 0 h 360000"/>
                <a:gd name="connsiteX0" fmla="*/ 276679 w 360000"/>
                <a:gd name="connsiteY0" fmla="*/ 0 h 360000"/>
                <a:gd name="connsiteX1" fmla="*/ 360000 w 360000"/>
                <a:gd name="connsiteY1" fmla="*/ 0 h 360000"/>
                <a:gd name="connsiteX2" fmla="*/ 360000 w 360000"/>
                <a:gd name="connsiteY2" fmla="*/ 360000 h 360000"/>
                <a:gd name="connsiteX3" fmla="*/ 0 w 360000"/>
                <a:gd name="connsiteY3" fmla="*/ 360000 h 360000"/>
                <a:gd name="connsiteX4" fmla="*/ 0 w 360000"/>
                <a:gd name="connsiteY4" fmla="*/ 0 h 360000"/>
                <a:gd name="connsiteX5" fmla="*/ 83322 w 360000"/>
                <a:gd name="connsiteY5" fmla="*/ 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0000" h="360000">
                  <a:moveTo>
                    <a:pt x="276679" y="0"/>
                  </a:moveTo>
                  <a:lnTo>
                    <a:pt x="360000" y="0"/>
                  </a:lnTo>
                  <a:lnTo>
                    <a:pt x="360000" y="360000"/>
                  </a:lnTo>
                  <a:lnTo>
                    <a:pt x="0" y="360000"/>
                  </a:lnTo>
                  <a:lnTo>
                    <a:pt x="0" y="0"/>
                  </a:lnTo>
                  <a:lnTo>
                    <a:pt x="83322" y="0"/>
                  </a:lnTo>
                </a:path>
              </a:pathLst>
            </a:custGeom>
            <a:noFill/>
            <a:ln w="9525" cap="flat">
              <a:solidFill>
                <a:schemeClr val="bg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4" name="Group 23" descr="Icon Email">
            <a:extLst>
              <a:ext uri="{FF2B5EF4-FFF2-40B4-BE49-F238E27FC236}">
                <a16:creationId xmlns:a16="http://schemas.microsoft.com/office/drawing/2014/main" id="{1DC8FF89-44D0-6F42-B284-BC51229470EE}"/>
              </a:ext>
            </a:extLst>
          </p:cNvPr>
          <p:cNvGrpSpPr/>
          <p:nvPr/>
        </p:nvGrpSpPr>
        <p:grpSpPr>
          <a:xfrm>
            <a:off x="9812866" y="10920602"/>
            <a:ext cx="1348229" cy="1348229"/>
            <a:chOff x="1334697" y="5102537"/>
            <a:chExt cx="360000" cy="36000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D5E39DB-D007-6148-BD38-A6B62753A519}"/>
                </a:ext>
              </a:extLst>
            </p:cNvPr>
            <p:cNvGrpSpPr/>
            <p:nvPr/>
          </p:nvGrpSpPr>
          <p:grpSpPr>
            <a:xfrm>
              <a:off x="1413695" y="5129259"/>
              <a:ext cx="257175" cy="257175"/>
              <a:chOff x="1423220" y="5138784"/>
              <a:chExt cx="257175" cy="257175"/>
            </a:xfrm>
          </p:grpSpPr>
          <p:sp>
            <p:nvSpPr>
              <p:cNvPr id="28" name="Freeform: Shape 52">
                <a:extLst>
                  <a:ext uri="{FF2B5EF4-FFF2-40B4-BE49-F238E27FC236}">
                    <a16:creationId xmlns:a16="http://schemas.microsoft.com/office/drawing/2014/main" id="{7E775BC4-CC1C-D34F-AF58-F2256D1D058E}"/>
                  </a:ext>
                </a:extLst>
              </p:cNvPr>
              <p:cNvSpPr/>
              <p:nvPr/>
            </p:nvSpPr>
            <p:spPr>
              <a:xfrm>
                <a:off x="1423220" y="5138784"/>
                <a:ext cx="257175" cy="257175"/>
              </a:xfrm>
              <a:custGeom>
                <a:avLst/>
                <a:gdLst>
                  <a:gd name="connsiteX0" fmla="*/ 0 w 257175"/>
                  <a:gd name="connsiteY0" fmla="*/ 163664 h 257175"/>
                  <a:gd name="connsiteX1" fmla="*/ 163664 w 257175"/>
                  <a:gd name="connsiteY1" fmla="*/ 0 h 257175"/>
                  <a:gd name="connsiteX2" fmla="*/ 261323 w 257175"/>
                  <a:gd name="connsiteY2" fmla="*/ 97659 h 257175"/>
                  <a:gd name="connsiteX3" fmla="*/ 97659 w 257175"/>
                  <a:gd name="connsiteY3" fmla="*/ 261323 h 25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75" h="257175">
                    <a:moveTo>
                      <a:pt x="0" y="163664"/>
                    </a:moveTo>
                    <a:lnTo>
                      <a:pt x="163664" y="0"/>
                    </a:lnTo>
                    <a:lnTo>
                      <a:pt x="261323" y="97659"/>
                    </a:lnTo>
                    <a:lnTo>
                      <a:pt x="97659" y="261323"/>
                    </a:lnTo>
                    <a:close/>
                  </a:path>
                </a:pathLst>
              </a:custGeom>
              <a:noFill/>
              <a:ln w="23813" cap="flat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: Shape 53">
                <a:extLst>
                  <a:ext uri="{FF2B5EF4-FFF2-40B4-BE49-F238E27FC236}">
                    <a16:creationId xmlns:a16="http://schemas.microsoft.com/office/drawing/2014/main" id="{21A62D34-34FB-6D40-8DBC-72C0392EC0E0}"/>
                  </a:ext>
                </a:extLst>
              </p:cNvPr>
              <p:cNvSpPr/>
              <p:nvPr/>
            </p:nvSpPr>
            <p:spPr>
              <a:xfrm>
                <a:off x="1427045" y="5144212"/>
                <a:ext cx="161925" cy="161925"/>
              </a:xfrm>
              <a:custGeom>
                <a:avLst/>
                <a:gdLst>
                  <a:gd name="connsiteX0" fmla="*/ 0 w 161925"/>
                  <a:gd name="connsiteY0" fmla="*/ 162878 h 161925"/>
                  <a:gd name="connsiteX1" fmla="*/ 141923 w 161925"/>
                  <a:gd name="connsiteY1" fmla="*/ 135255 h 161925"/>
                  <a:gd name="connsiteX2" fmla="*/ 162878 w 161925"/>
                  <a:gd name="connsiteY2" fmla="*/ 0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1925" h="161925">
                    <a:moveTo>
                      <a:pt x="0" y="162878"/>
                    </a:moveTo>
                    <a:lnTo>
                      <a:pt x="141923" y="135255"/>
                    </a:lnTo>
                    <a:lnTo>
                      <a:pt x="162878" y="0"/>
                    </a:lnTo>
                  </a:path>
                </a:pathLst>
              </a:custGeom>
              <a:noFill/>
              <a:ln w="23813" cap="flat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27" name="Freeform: Shape 51">
              <a:extLst>
                <a:ext uri="{FF2B5EF4-FFF2-40B4-BE49-F238E27FC236}">
                  <a16:creationId xmlns:a16="http://schemas.microsoft.com/office/drawing/2014/main" id="{631A5449-33FA-E248-9B20-C78AB9C7E3BF}"/>
                </a:ext>
              </a:extLst>
            </p:cNvPr>
            <p:cNvSpPr/>
            <p:nvPr/>
          </p:nvSpPr>
          <p:spPr>
            <a:xfrm>
              <a:off x="1334697" y="5102537"/>
              <a:ext cx="360000" cy="360000"/>
            </a:xfrm>
            <a:custGeom>
              <a:avLst/>
              <a:gdLst>
                <a:gd name="connsiteX0" fmla="*/ 0 w 360000"/>
                <a:gd name="connsiteY0" fmla="*/ 0 h 360000"/>
                <a:gd name="connsiteX1" fmla="*/ 185104 w 360000"/>
                <a:gd name="connsiteY1" fmla="*/ 0 h 360000"/>
                <a:gd name="connsiteX2" fmla="*/ 185104 w 360000"/>
                <a:gd name="connsiteY2" fmla="*/ 172694 h 360000"/>
                <a:gd name="connsiteX3" fmla="*/ 360000 w 360000"/>
                <a:gd name="connsiteY3" fmla="*/ 172694 h 360000"/>
                <a:gd name="connsiteX4" fmla="*/ 360000 w 360000"/>
                <a:gd name="connsiteY4" fmla="*/ 360000 h 360000"/>
                <a:gd name="connsiteX5" fmla="*/ 0 w 360000"/>
                <a:gd name="connsiteY5" fmla="*/ 360000 h 360000"/>
                <a:gd name="connsiteX0" fmla="*/ 185104 w 360000"/>
                <a:gd name="connsiteY0" fmla="*/ 172694 h 360000"/>
                <a:gd name="connsiteX1" fmla="*/ 360000 w 360000"/>
                <a:gd name="connsiteY1" fmla="*/ 172694 h 360000"/>
                <a:gd name="connsiteX2" fmla="*/ 360000 w 360000"/>
                <a:gd name="connsiteY2" fmla="*/ 360000 h 360000"/>
                <a:gd name="connsiteX3" fmla="*/ 0 w 360000"/>
                <a:gd name="connsiteY3" fmla="*/ 360000 h 360000"/>
                <a:gd name="connsiteX4" fmla="*/ 0 w 360000"/>
                <a:gd name="connsiteY4" fmla="*/ 0 h 360000"/>
                <a:gd name="connsiteX5" fmla="*/ 185104 w 360000"/>
                <a:gd name="connsiteY5" fmla="*/ 0 h 360000"/>
                <a:gd name="connsiteX6" fmla="*/ 276544 w 360000"/>
                <a:gd name="connsiteY6" fmla="*/ 264134 h 360000"/>
                <a:gd name="connsiteX0" fmla="*/ 185104 w 360000"/>
                <a:gd name="connsiteY0" fmla="*/ 172694 h 360000"/>
                <a:gd name="connsiteX1" fmla="*/ 360000 w 360000"/>
                <a:gd name="connsiteY1" fmla="*/ 172694 h 360000"/>
                <a:gd name="connsiteX2" fmla="*/ 360000 w 360000"/>
                <a:gd name="connsiteY2" fmla="*/ 360000 h 360000"/>
                <a:gd name="connsiteX3" fmla="*/ 0 w 360000"/>
                <a:gd name="connsiteY3" fmla="*/ 360000 h 360000"/>
                <a:gd name="connsiteX4" fmla="*/ 0 w 360000"/>
                <a:gd name="connsiteY4" fmla="*/ 0 h 360000"/>
                <a:gd name="connsiteX5" fmla="*/ 185104 w 360000"/>
                <a:gd name="connsiteY5" fmla="*/ 0 h 360000"/>
                <a:gd name="connsiteX0" fmla="*/ 360000 w 360000"/>
                <a:gd name="connsiteY0" fmla="*/ 172694 h 360000"/>
                <a:gd name="connsiteX1" fmla="*/ 360000 w 360000"/>
                <a:gd name="connsiteY1" fmla="*/ 360000 h 360000"/>
                <a:gd name="connsiteX2" fmla="*/ 0 w 360000"/>
                <a:gd name="connsiteY2" fmla="*/ 360000 h 360000"/>
                <a:gd name="connsiteX3" fmla="*/ 0 w 360000"/>
                <a:gd name="connsiteY3" fmla="*/ 0 h 360000"/>
                <a:gd name="connsiteX4" fmla="*/ 185104 w 360000"/>
                <a:gd name="connsiteY4" fmla="*/ 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000" h="360000">
                  <a:moveTo>
                    <a:pt x="360000" y="172694"/>
                  </a:moveTo>
                  <a:lnTo>
                    <a:pt x="360000" y="360000"/>
                  </a:lnTo>
                  <a:lnTo>
                    <a:pt x="0" y="360000"/>
                  </a:lnTo>
                  <a:lnTo>
                    <a:pt x="0" y="0"/>
                  </a:lnTo>
                  <a:lnTo>
                    <a:pt x="185104" y="0"/>
                  </a:lnTo>
                </a:path>
              </a:pathLst>
            </a:custGeom>
            <a:noFill/>
            <a:ln w="9525" cap="flat">
              <a:solidFill>
                <a:schemeClr val="bg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31" name="Group 30" descr="Icon Phone">
            <a:extLst>
              <a:ext uri="{FF2B5EF4-FFF2-40B4-BE49-F238E27FC236}">
                <a16:creationId xmlns:a16="http://schemas.microsoft.com/office/drawing/2014/main" id="{539D96D9-DC80-6D47-9DE7-ECA2BCB1F417}"/>
              </a:ext>
            </a:extLst>
          </p:cNvPr>
          <p:cNvGrpSpPr/>
          <p:nvPr/>
        </p:nvGrpSpPr>
        <p:grpSpPr>
          <a:xfrm>
            <a:off x="17364953" y="10967854"/>
            <a:ext cx="1348229" cy="1348229"/>
            <a:chOff x="1334697" y="5606075"/>
            <a:chExt cx="360000" cy="360000"/>
          </a:xfrm>
        </p:grpSpPr>
        <p:sp>
          <p:nvSpPr>
            <p:cNvPr id="32" name="Freeform: Shape 46">
              <a:extLst>
                <a:ext uri="{FF2B5EF4-FFF2-40B4-BE49-F238E27FC236}">
                  <a16:creationId xmlns:a16="http://schemas.microsoft.com/office/drawing/2014/main" id="{FF169136-B370-934E-9B5D-754E43BF686B}"/>
                </a:ext>
              </a:extLst>
            </p:cNvPr>
            <p:cNvSpPr/>
            <p:nvPr/>
          </p:nvSpPr>
          <p:spPr>
            <a:xfrm>
              <a:off x="1423220" y="5624464"/>
              <a:ext cx="257175" cy="257175"/>
            </a:xfrm>
            <a:custGeom>
              <a:avLst/>
              <a:gdLst>
                <a:gd name="connsiteX0" fmla="*/ 0 w 257175"/>
                <a:gd name="connsiteY0" fmla="*/ 163664 h 257175"/>
                <a:gd name="connsiteX1" fmla="*/ 163664 w 257175"/>
                <a:gd name="connsiteY1" fmla="*/ 0 h 257175"/>
                <a:gd name="connsiteX2" fmla="*/ 261323 w 257175"/>
                <a:gd name="connsiteY2" fmla="*/ 97659 h 257175"/>
                <a:gd name="connsiteX3" fmla="*/ 97659 w 257175"/>
                <a:gd name="connsiteY3" fmla="*/ 261323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175" h="257175">
                  <a:moveTo>
                    <a:pt x="0" y="163664"/>
                  </a:moveTo>
                  <a:lnTo>
                    <a:pt x="163664" y="0"/>
                  </a:lnTo>
                  <a:lnTo>
                    <a:pt x="261323" y="97659"/>
                  </a:lnTo>
                  <a:lnTo>
                    <a:pt x="97659" y="261323"/>
                  </a:lnTo>
                  <a:close/>
                </a:path>
              </a:pathLst>
            </a:custGeom>
            <a:noFill/>
            <a:ln w="23813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47">
              <a:extLst>
                <a:ext uri="{FF2B5EF4-FFF2-40B4-BE49-F238E27FC236}">
                  <a16:creationId xmlns:a16="http://schemas.microsoft.com/office/drawing/2014/main" id="{97221ECB-6013-8F43-A28B-59BAE6C9C35F}"/>
                </a:ext>
              </a:extLst>
            </p:cNvPr>
            <p:cNvSpPr/>
            <p:nvPr/>
          </p:nvSpPr>
          <p:spPr>
            <a:xfrm>
              <a:off x="1491815" y="580038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17145 w 9525"/>
                <a:gd name="connsiteY1" fmla="*/ 18098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17145" y="18098"/>
                  </a:lnTo>
                </a:path>
              </a:pathLst>
            </a:custGeom>
            <a:ln w="23813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48">
              <a:extLst>
                <a:ext uri="{FF2B5EF4-FFF2-40B4-BE49-F238E27FC236}">
                  <a16:creationId xmlns:a16="http://schemas.microsoft.com/office/drawing/2014/main" id="{CD175F88-E3A4-D548-9E7C-6A112EA3B377}"/>
                </a:ext>
              </a:extLst>
            </p:cNvPr>
            <p:cNvSpPr/>
            <p:nvPr/>
          </p:nvSpPr>
          <p:spPr>
            <a:xfrm>
              <a:off x="1334697" y="5606075"/>
              <a:ext cx="360000" cy="360000"/>
            </a:xfrm>
            <a:custGeom>
              <a:avLst/>
              <a:gdLst>
                <a:gd name="connsiteX0" fmla="*/ 0 w 360000"/>
                <a:gd name="connsiteY0" fmla="*/ 0 h 360000"/>
                <a:gd name="connsiteX1" fmla="*/ 185104 w 360000"/>
                <a:gd name="connsiteY1" fmla="*/ 0 h 360000"/>
                <a:gd name="connsiteX2" fmla="*/ 185104 w 360000"/>
                <a:gd name="connsiteY2" fmla="*/ 172694 h 360000"/>
                <a:gd name="connsiteX3" fmla="*/ 360000 w 360000"/>
                <a:gd name="connsiteY3" fmla="*/ 172694 h 360000"/>
                <a:gd name="connsiteX4" fmla="*/ 360000 w 360000"/>
                <a:gd name="connsiteY4" fmla="*/ 360000 h 360000"/>
                <a:gd name="connsiteX5" fmla="*/ 0 w 360000"/>
                <a:gd name="connsiteY5" fmla="*/ 360000 h 360000"/>
                <a:gd name="connsiteX0" fmla="*/ 185104 w 360000"/>
                <a:gd name="connsiteY0" fmla="*/ 172694 h 360000"/>
                <a:gd name="connsiteX1" fmla="*/ 360000 w 360000"/>
                <a:gd name="connsiteY1" fmla="*/ 172694 h 360000"/>
                <a:gd name="connsiteX2" fmla="*/ 360000 w 360000"/>
                <a:gd name="connsiteY2" fmla="*/ 360000 h 360000"/>
                <a:gd name="connsiteX3" fmla="*/ 0 w 360000"/>
                <a:gd name="connsiteY3" fmla="*/ 360000 h 360000"/>
                <a:gd name="connsiteX4" fmla="*/ 0 w 360000"/>
                <a:gd name="connsiteY4" fmla="*/ 0 h 360000"/>
                <a:gd name="connsiteX5" fmla="*/ 185104 w 360000"/>
                <a:gd name="connsiteY5" fmla="*/ 0 h 360000"/>
                <a:gd name="connsiteX6" fmla="*/ 276544 w 360000"/>
                <a:gd name="connsiteY6" fmla="*/ 264134 h 360000"/>
                <a:gd name="connsiteX0" fmla="*/ 185104 w 360000"/>
                <a:gd name="connsiteY0" fmla="*/ 172694 h 360000"/>
                <a:gd name="connsiteX1" fmla="*/ 360000 w 360000"/>
                <a:gd name="connsiteY1" fmla="*/ 172694 h 360000"/>
                <a:gd name="connsiteX2" fmla="*/ 360000 w 360000"/>
                <a:gd name="connsiteY2" fmla="*/ 360000 h 360000"/>
                <a:gd name="connsiteX3" fmla="*/ 0 w 360000"/>
                <a:gd name="connsiteY3" fmla="*/ 360000 h 360000"/>
                <a:gd name="connsiteX4" fmla="*/ 0 w 360000"/>
                <a:gd name="connsiteY4" fmla="*/ 0 h 360000"/>
                <a:gd name="connsiteX5" fmla="*/ 185104 w 360000"/>
                <a:gd name="connsiteY5" fmla="*/ 0 h 360000"/>
                <a:gd name="connsiteX0" fmla="*/ 360000 w 360000"/>
                <a:gd name="connsiteY0" fmla="*/ 172694 h 360000"/>
                <a:gd name="connsiteX1" fmla="*/ 360000 w 360000"/>
                <a:gd name="connsiteY1" fmla="*/ 360000 h 360000"/>
                <a:gd name="connsiteX2" fmla="*/ 0 w 360000"/>
                <a:gd name="connsiteY2" fmla="*/ 360000 h 360000"/>
                <a:gd name="connsiteX3" fmla="*/ 0 w 360000"/>
                <a:gd name="connsiteY3" fmla="*/ 0 h 360000"/>
                <a:gd name="connsiteX4" fmla="*/ 185104 w 360000"/>
                <a:gd name="connsiteY4" fmla="*/ 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000" h="360000">
                  <a:moveTo>
                    <a:pt x="360000" y="172694"/>
                  </a:moveTo>
                  <a:lnTo>
                    <a:pt x="360000" y="360000"/>
                  </a:lnTo>
                  <a:lnTo>
                    <a:pt x="0" y="360000"/>
                  </a:lnTo>
                  <a:lnTo>
                    <a:pt x="0" y="0"/>
                  </a:lnTo>
                  <a:lnTo>
                    <a:pt x="185104" y="0"/>
                  </a:lnTo>
                </a:path>
              </a:pathLst>
            </a:custGeom>
            <a:noFill/>
            <a:ln w="9525" cap="flat">
              <a:solidFill>
                <a:schemeClr val="bg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5F3C751-E89C-B4F8-6805-C30A6BF350E5}"/>
              </a:ext>
            </a:extLst>
          </p:cNvPr>
          <p:cNvSpPr txBox="1"/>
          <p:nvPr/>
        </p:nvSpPr>
        <p:spPr>
          <a:xfrm>
            <a:off x="18062294" y="240193"/>
            <a:ext cx="6070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kern="0" dirty="0">
                <a:solidFill>
                  <a:schemeClr val="tx2"/>
                </a:solidFill>
                <a:latin typeface="Montserrat" pitchFamily="2" charset="77"/>
              </a:rPr>
              <a:t>PROPRIETARY AND CONFIDENTIAL</a:t>
            </a:r>
            <a:endParaRPr lang="en-US" dirty="0">
              <a:solidFill>
                <a:schemeClr val="tx2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590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4FC0A-8D51-FEEB-2B13-91FEDBC1F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5EF5FE3-261A-1E5F-7A2F-668D99F44F5F}"/>
              </a:ext>
            </a:extLst>
          </p:cNvPr>
          <p:cNvSpPr/>
          <p:nvPr/>
        </p:nvSpPr>
        <p:spPr>
          <a:xfrm>
            <a:off x="15373339" y="-12357"/>
            <a:ext cx="9004311" cy="137098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Picture 17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89182A14-5CBF-2DBD-1AF1-526117AE817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1053" y="1295400"/>
            <a:ext cx="4348572" cy="102505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BCE040E-86F9-3209-FDDB-4232B4340661}"/>
              </a:ext>
            </a:extLst>
          </p:cNvPr>
          <p:cNvSpPr txBox="1"/>
          <p:nvPr/>
        </p:nvSpPr>
        <p:spPr>
          <a:xfrm>
            <a:off x="18062294" y="240193"/>
            <a:ext cx="6070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kern="0" dirty="0">
                <a:solidFill>
                  <a:schemeClr val="tx2"/>
                </a:solidFill>
                <a:latin typeface="Montserrat" pitchFamily="2" charset="77"/>
              </a:rPr>
              <a:t>PROPRIETARY AND CONFIDENTIAL</a:t>
            </a:r>
            <a:endParaRPr lang="en-US" dirty="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900564-5065-F697-34D0-04EA00E73BB4}"/>
              </a:ext>
            </a:extLst>
          </p:cNvPr>
          <p:cNvSpPr txBox="1"/>
          <p:nvPr/>
        </p:nvSpPr>
        <p:spPr>
          <a:xfrm>
            <a:off x="1593849" y="1676400"/>
            <a:ext cx="78599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500" kern="100" spc="600" dirty="0">
                <a:solidFill>
                  <a:schemeClr val="tx2"/>
                </a:solidFill>
                <a:latin typeface="Montserrat Medium" panose="00000600000000000000" pitchFamily="50" charset="-52"/>
              </a:rPr>
              <a:t>HEALTHRATE EXPERTISE</a:t>
            </a:r>
            <a:endParaRPr lang="ru-RU" sz="2500" kern="100" spc="600" dirty="0">
              <a:solidFill>
                <a:schemeClr val="accent1"/>
              </a:solidFill>
              <a:latin typeface="Montserrat Medium" panose="00000600000000000000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293661-8D19-4EEA-E504-14FBF2BCAE2E}"/>
              </a:ext>
            </a:extLst>
          </p:cNvPr>
          <p:cNvSpPr txBox="1"/>
          <p:nvPr/>
        </p:nvSpPr>
        <p:spPr>
          <a:xfrm>
            <a:off x="1593849" y="2286000"/>
            <a:ext cx="119665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kern="100" dirty="0">
                <a:solidFill>
                  <a:srgbClr val="0C276D"/>
                </a:solidFill>
                <a:latin typeface="Charter Roman" panose="02040503050506020203" pitchFamily="18" charset="0"/>
              </a:rPr>
              <a:t>How it Works</a:t>
            </a:r>
            <a:endParaRPr lang="ru-RU" sz="8000" kern="100" dirty="0">
              <a:solidFill>
                <a:srgbClr val="0C276D"/>
              </a:solidFill>
              <a:latin typeface="Montserrat" panose="00000500000000000000" pitchFamily="50" charset="-52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75A40FD-893E-A1CF-927B-31198F93069C}"/>
              </a:ext>
            </a:extLst>
          </p:cNvPr>
          <p:cNvCxnSpPr>
            <a:cxnSpLocks/>
            <a:endCxn id="23" idx="4"/>
          </p:cNvCxnSpPr>
          <p:nvPr/>
        </p:nvCxnSpPr>
        <p:spPr>
          <a:xfrm>
            <a:off x="1161159" y="4904158"/>
            <a:ext cx="14118" cy="667225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69AAE347-1AB4-EEFB-EC11-795FA2392E2F}"/>
              </a:ext>
            </a:extLst>
          </p:cNvPr>
          <p:cNvGrpSpPr/>
          <p:nvPr/>
        </p:nvGrpSpPr>
        <p:grpSpPr>
          <a:xfrm>
            <a:off x="758825" y="7615040"/>
            <a:ext cx="832903" cy="832903"/>
            <a:chOff x="6052888" y="1435897"/>
            <a:chExt cx="416560" cy="416560"/>
          </a:xfrm>
          <a:solidFill>
            <a:schemeClr val="accent2"/>
          </a:solidFill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4960B72-82D7-434B-5787-F5365F2D1889}"/>
                </a:ext>
              </a:extLst>
            </p:cNvPr>
            <p:cNvSpPr/>
            <p:nvPr/>
          </p:nvSpPr>
          <p:spPr>
            <a:xfrm>
              <a:off x="6052888" y="1435897"/>
              <a:ext cx="416560" cy="4165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198" dirty="0">
                <a:latin typeface="Century Gothic" panose="020B0502020202020204" pitchFamily="34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8811DDE-80A3-AC5F-8688-A7E535ACB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6156" y="1570901"/>
              <a:ext cx="257303" cy="193802"/>
            </a:xfrm>
            <a:prstGeom prst="rect">
              <a:avLst/>
            </a:prstGeom>
            <a:grpFill/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27D4D54-50EC-EC3F-9F34-E26307B56B1F}"/>
              </a:ext>
            </a:extLst>
          </p:cNvPr>
          <p:cNvSpPr txBox="1"/>
          <p:nvPr/>
        </p:nvSpPr>
        <p:spPr>
          <a:xfrm>
            <a:off x="2444831" y="4373702"/>
            <a:ext cx="12089848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4000" kern="100" dirty="0">
                <a:solidFill>
                  <a:srgbClr val="0C276D"/>
                </a:solidFill>
                <a:latin typeface="Charter Roman" panose="02040503050506020203" pitchFamily="18" charset="0"/>
              </a:rPr>
              <a:t>Specialty Contracting Expertise + Legislative Changes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5BCFFD-5899-1874-7417-C5CBE12DC2AB}"/>
              </a:ext>
            </a:extLst>
          </p:cNvPr>
          <p:cNvSpPr txBox="1"/>
          <p:nvPr/>
        </p:nvSpPr>
        <p:spPr>
          <a:xfrm>
            <a:off x="2444825" y="7616071"/>
            <a:ext cx="6559488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4000" kern="100" dirty="0">
                <a:solidFill>
                  <a:srgbClr val="0C276D"/>
                </a:solidFill>
                <a:latin typeface="Charter Roman" panose="02040503050506020203" pitchFamily="18" charset="0"/>
              </a:rPr>
              <a:t>Advanced Actuarial Expertise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163A76-5974-3CCF-DDBD-D89CAFF97E50}"/>
              </a:ext>
            </a:extLst>
          </p:cNvPr>
          <p:cNvSpPr txBox="1"/>
          <p:nvPr/>
        </p:nvSpPr>
        <p:spPr>
          <a:xfrm>
            <a:off x="2444827" y="10759587"/>
            <a:ext cx="2840521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4000" kern="100" dirty="0">
                <a:solidFill>
                  <a:srgbClr val="0C276D"/>
                </a:solidFill>
                <a:latin typeface="Charter Roman" panose="02040503050506020203" pitchFamily="18" charset="0"/>
              </a:rPr>
              <a:t>De-Mystified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2980570-4AB5-73B0-22BC-C6501D886E53}"/>
              </a:ext>
            </a:extLst>
          </p:cNvPr>
          <p:cNvGrpSpPr/>
          <p:nvPr/>
        </p:nvGrpSpPr>
        <p:grpSpPr>
          <a:xfrm>
            <a:off x="758825" y="4473032"/>
            <a:ext cx="832903" cy="832903"/>
            <a:chOff x="6052888" y="1435897"/>
            <a:chExt cx="416560" cy="41656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81B6408-AE18-D348-524D-57504F0DC168}"/>
                </a:ext>
              </a:extLst>
            </p:cNvPr>
            <p:cNvSpPr/>
            <p:nvPr/>
          </p:nvSpPr>
          <p:spPr>
            <a:xfrm>
              <a:off x="6052888" y="1435897"/>
              <a:ext cx="416560" cy="4165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198" dirty="0">
                <a:latin typeface="Century Gothic" panose="020B0502020202020204" pitchFamily="34" charset="0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DD0829B-DBA5-C1C2-9B30-FA4AE0F0E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6156" y="1570901"/>
              <a:ext cx="257303" cy="193802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B4EAABA-2CEF-6C40-6FE3-443F6E8928D1}"/>
              </a:ext>
            </a:extLst>
          </p:cNvPr>
          <p:cNvGrpSpPr/>
          <p:nvPr/>
        </p:nvGrpSpPr>
        <p:grpSpPr>
          <a:xfrm>
            <a:off x="758825" y="10743505"/>
            <a:ext cx="832903" cy="832903"/>
            <a:chOff x="6052888" y="1435897"/>
            <a:chExt cx="416560" cy="416560"/>
          </a:xfrm>
          <a:solidFill>
            <a:schemeClr val="tx2"/>
          </a:solidFill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39CB94B-89A1-CCC0-AEB2-001C06833954}"/>
                </a:ext>
              </a:extLst>
            </p:cNvPr>
            <p:cNvSpPr/>
            <p:nvPr/>
          </p:nvSpPr>
          <p:spPr>
            <a:xfrm>
              <a:off x="6052888" y="1435897"/>
              <a:ext cx="416560" cy="4165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198" dirty="0">
                <a:latin typeface="Century Gothic" panose="020B0502020202020204" pitchFamily="34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B3C83D9-4509-C8BB-77E1-9A0AD7C4B3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6156" y="1570901"/>
              <a:ext cx="257303" cy="193802"/>
            </a:xfrm>
            <a:prstGeom prst="rect">
              <a:avLst/>
            </a:prstGeom>
            <a:grpFill/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91E87B01-8A41-4EAE-4D7D-D565E2073BBA}"/>
              </a:ext>
            </a:extLst>
          </p:cNvPr>
          <p:cNvSpPr txBox="1"/>
          <p:nvPr/>
        </p:nvSpPr>
        <p:spPr>
          <a:xfrm>
            <a:off x="2409395" y="5148853"/>
            <a:ext cx="958717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357" indent="-571357">
              <a:buFont typeface="Arial" panose="020B0604020202020204" pitchFamily="34" charset="0"/>
              <a:buChar char="•"/>
            </a:pPr>
            <a:r>
              <a:rPr lang="en-US" sz="2400" i="1" kern="0" dirty="0">
                <a:solidFill>
                  <a:srgbClr val="29407E"/>
                </a:solidFill>
                <a:latin typeface="Montserrat" pitchFamily="2" charset="77"/>
              </a:rPr>
              <a:t>Niche industry experts who have defined the industries payment methodologies, levers, and triggers for specialty reimbursement</a:t>
            </a:r>
          </a:p>
          <a:p>
            <a:pPr marL="571357" indent="-571357">
              <a:buFont typeface="Arial" panose="020B0604020202020204" pitchFamily="34" charset="0"/>
              <a:buChar char="•"/>
            </a:pPr>
            <a:r>
              <a:rPr lang="en-US" sz="2400" i="1" kern="0" dirty="0">
                <a:solidFill>
                  <a:srgbClr val="29407E"/>
                </a:solidFill>
                <a:latin typeface="Montserrat" pitchFamily="2" charset="77"/>
              </a:rPr>
              <a:t>Transparency in Coverage and No Surprises Act have triggered increased competition</a:t>
            </a:r>
          </a:p>
          <a:p>
            <a:endParaRPr lang="en-US" sz="1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A83799-4C85-BE2F-A11C-3DA6C2F50B61}"/>
              </a:ext>
            </a:extLst>
          </p:cNvPr>
          <p:cNvSpPr txBox="1"/>
          <p:nvPr/>
        </p:nvSpPr>
        <p:spPr>
          <a:xfrm>
            <a:off x="2409395" y="8348619"/>
            <a:ext cx="95871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71357" indent="-571357">
              <a:buFont typeface="Arial" panose="020B0604020202020204" pitchFamily="34" charset="0"/>
              <a:buChar char="•"/>
              <a:defRPr sz="2800" i="1" kern="0">
                <a:solidFill>
                  <a:srgbClr val="29407E"/>
                </a:solidFill>
                <a:latin typeface="Montserrat" pitchFamily="2" charset="77"/>
              </a:defRPr>
            </a:lvl1pPr>
          </a:lstStyle>
          <a:p>
            <a:r>
              <a:rPr lang="en-US" sz="2400" dirty="0"/>
              <a:t>Decades of real-world data</a:t>
            </a:r>
          </a:p>
          <a:p>
            <a:r>
              <a:rPr lang="en-US" sz="2400" dirty="0"/>
              <a:t>Proprietary Artificial Intelligence(AI) to ingest and process payment terms</a:t>
            </a:r>
          </a:p>
          <a:p>
            <a:r>
              <a:rPr lang="en-US" sz="2400" dirty="0"/>
              <a:t>Advance statistical analysis and proprietary algorithms to identify and quantify opportunities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7061FB-A450-20D3-9F4F-BB81ED2C9F1D}"/>
              </a:ext>
            </a:extLst>
          </p:cNvPr>
          <p:cNvSpPr txBox="1"/>
          <p:nvPr/>
        </p:nvSpPr>
        <p:spPr>
          <a:xfrm>
            <a:off x="2409395" y="11522095"/>
            <a:ext cx="958717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457" indent="-685457">
              <a:buFont typeface="Arial" panose="020B0604020202020204" pitchFamily="34" charset="0"/>
              <a:buChar char="•"/>
            </a:pPr>
            <a:r>
              <a:rPr lang="en-US" sz="2400" i="1" kern="0" dirty="0">
                <a:solidFill>
                  <a:srgbClr val="29407E"/>
                </a:solidFill>
                <a:latin typeface="Montserrat" pitchFamily="2" charset="77"/>
              </a:rPr>
              <a:t>Update your precertification and utilization processes with existing staff or have HealthRate do it for you</a:t>
            </a:r>
          </a:p>
          <a:p>
            <a:pPr marL="685457" indent="-685457">
              <a:buFont typeface="Arial" panose="020B0604020202020204" pitchFamily="34" charset="0"/>
              <a:buChar char="•"/>
            </a:pPr>
            <a:r>
              <a:rPr lang="en-US" sz="2400" i="1" kern="0" dirty="0">
                <a:solidFill>
                  <a:srgbClr val="29407E"/>
                </a:solidFill>
                <a:latin typeface="Montserrat" pitchFamily="2" charset="77"/>
              </a:rPr>
              <a:t>Instantly evaluate all available provider rates</a:t>
            </a:r>
          </a:p>
          <a:p>
            <a:pPr marL="685457" indent="-685457">
              <a:buFont typeface="Arial" panose="020B0604020202020204" pitchFamily="34" charset="0"/>
              <a:buChar char="•"/>
            </a:pPr>
            <a:r>
              <a:rPr lang="en-US" sz="2400" i="1" kern="0" dirty="0">
                <a:solidFill>
                  <a:srgbClr val="29407E"/>
                </a:solidFill>
                <a:latin typeface="Montserrat" pitchFamily="2" charset="77"/>
              </a:rPr>
              <a:t>Login to </a:t>
            </a:r>
            <a:r>
              <a:rPr lang="en-US" sz="2400" i="1" kern="0" dirty="0">
                <a:solidFill>
                  <a:srgbClr val="29407E"/>
                </a:solidFill>
                <a:latin typeface="Montserrat" pitchFamily="2" charset="7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www.healthrate.io</a:t>
            </a:r>
            <a:r>
              <a:rPr lang="en-US" sz="2400" i="1" kern="0" dirty="0">
                <a:solidFill>
                  <a:srgbClr val="29407E"/>
                </a:solidFill>
                <a:latin typeface="Montserrat" pitchFamily="2" charset="77"/>
              </a:rPr>
              <a:t> and begin saving!</a:t>
            </a:r>
          </a:p>
          <a:p>
            <a:endParaRPr lang="en-US" sz="2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30E1E3-1E90-A2AB-5D28-2079A6530A72}"/>
              </a:ext>
            </a:extLst>
          </p:cNvPr>
          <p:cNvSpPr txBox="1"/>
          <p:nvPr/>
        </p:nvSpPr>
        <p:spPr>
          <a:xfrm>
            <a:off x="16878935" y="7886200"/>
            <a:ext cx="6358890" cy="283141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2500" dirty="0">
                <a:solidFill>
                  <a:schemeClr val="tx2"/>
                </a:solidFill>
                <a:latin typeface="Montserrat" panose="00000500000000000000" pitchFamily="50" charset="-52"/>
              </a:rPr>
              <a:t>Built on decades of domain experience, trillions of data points, advanced statistical methods, and recent advancements in AI/ML, HealthRate proactively identifies the optimal source and cost of care.</a:t>
            </a:r>
          </a:p>
          <a:p>
            <a:endParaRPr lang="en-US" sz="2799" dirty="0">
              <a:latin typeface="Century Gothic" panose="020B0502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0BEA3C-0A17-A40E-329C-B852AAFDF2E4}"/>
              </a:ext>
            </a:extLst>
          </p:cNvPr>
          <p:cNvSpPr txBox="1"/>
          <p:nvPr/>
        </p:nvSpPr>
        <p:spPr>
          <a:xfrm>
            <a:off x="16878937" y="6705600"/>
            <a:ext cx="6488956" cy="116955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3500" kern="100" dirty="0">
                <a:solidFill>
                  <a:srgbClr val="000000"/>
                </a:solidFill>
                <a:latin typeface="Montserrat SemiBold" panose="00000700000000000000" pitchFamily="50" charset="-52"/>
              </a:rPr>
              <a:t>PAYMENT OPTIMIZATION &amp; </a:t>
            </a:r>
          </a:p>
          <a:p>
            <a:r>
              <a:rPr lang="en-US" sz="3500" kern="100" dirty="0">
                <a:solidFill>
                  <a:srgbClr val="000000"/>
                </a:solidFill>
                <a:latin typeface="Montserrat SemiBold" panose="00000700000000000000" pitchFamily="50" charset="-52"/>
              </a:rPr>
              <a:t>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743115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Default Theme">
  <a:themeElements>
    <a:clrScheme name="Proposal">
      <a:dk1>
        <a:srgbClr val="7F7F7F"/>
      </a:dk1>
      <a:lt1>
        <a:srgbClr val="FFFFFF"/>
      </a:lt1>
      <a:dk2>
        <a:srgbClr val="000000"/>
      </a:dk2>
      <a:lt2>
        <a:srgbClr val="FFFFFF"/>
      </a:lt2>
      <a:accent1>
        <a:srgbClr val="C3C8D4"/>
      </a:accent1>
      <a:accent2>
        <a:srgbClr val="5B9ABA"/>
      </a:accent2>
      <a:accent3>
        <a:srgbClr val="1A7C7B"/>
      </a:accent3>
      <a:accent4>
        <a:srgbClr val="91969B"/>
      </a:accent4>
      <a:accent5>
        <a:srgbClr val="4B5050"/>
      </a:accent5>
      <a:accent6>
        <a:srgbClr val="91969B"/>
      </a:accent6>
      <a:hlink>
        <a:srgbClr val="F33B48"/>
      </a:hlink>
      <a:folHlink>
        <a:srgbClr val="FFC000"/>
      </a:folHlink>
    </a:clrScheme>
    <a:fontScheme name="Custom 1">
      <a:majorFont>
        <a:latin typeface="Lato"/>
        <a:ea typeface=""/>
        <a:cs typeface=""/>
      </a:majorFont>
      <a:minorFont>
        <a:latin typeface="La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9D4087D868A64280E6AC3E8F6B5810" ma:contentTypeVersion="16" ma:contentTypeDescription="Create a new document." ma:contentTypeScope="" ma:versionID="19ce5066adb7177c837793775f08ac4e">
  <xsd:schema xmlns:xsd="http://www.w3.org/2001/XMLSchema" xmlns:xs="http://www.w3.org/2001/XMLSchema" xmlns:p="http://schemas.microsoft.com/office/2006/metadata/properties" xmlns:ns3="8a7bccb3-beae-4419-b3db-1cab465768bb" xmlns:ns4="cb869b95-5ab3-4a39-916d-3764e873700d" targetNamespace="http://schemas.microsoft.com/office/2006/metadata/properties" ma:root="true" ma:fieldsID="dafda3dc490bc354a25ce718f6532464" ns3:_="" ns4:_="">
    <xsd:import namespace="8a7bccb3-beae-4419-b3db-1cab465768bb"/>
    <xsd:import namespace="cb869b95-5ab3-4a39-916d-3764e87370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LengthInSeconds" minOccurs="0"/>
                <xsd:element ref="ns3:MediaServiceDateTaken" minOccurs="0"/>
                <xsd:element ref="ns3:MediaServiceLocation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7bccb3-beae-4419-b3db-1cab465768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869b95-5ab3-4a39-916d-3764e873700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a7bccb3-beae-4419-b3db-1cab465768b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3F60C5-FD4F-443A-95D3-CB2F80EA1D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7bccb3-beae-4419-b3db-1cab465768bb"/>
    <ds:schemaRef ds:uri="cb869b95-5ab3-4a39-916d-3764e87370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13C243-1230-4286-85EF-65A8B17103B3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elements/1.1/"/>
    <ds:schemaRef ds:uri="cb869b95-5ab3-4a39-916d-3764e873700d"/>
    <ds:schemaRef ds:uri="http://schemas.microsoft.com/office/2006/metadata/properties"/>
    <ds:schemaRef ds:uri="http://purl.org/dc/terms/"/>
    <ds:schemaRef ds:uri="http://schemas.openxmlformats.org/package/2006/metadata/core-properties"/>
    <ds:schemaRef ds:uri="8a7bccb3-beae-4419-b3db-1cab465768bb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6625791-EAEA-4E46-A8DF-FF1F12083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88045</TotalTime>
  <Words>729</Words>
  <Application>Microsoft Office PowerPoint</Application>
  <PresentationFormat>Custom</PresentationFormat>
  <Paragraphs>173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Calibri</vt:lpstr>
      <vt:lpstr>Calibri Light</vt:lpstr>
      <vt:lpstr>Century Gothic</vt:lpstr>
      <vt:lpstr>Charter Roman</vt:lpstr>
      <vt:lpstr>Hind</vt:lpstr>
      <vt:lpstr>Montserrat</vt:lpstr>
      <vt:lpstr>Montserrat Medium</vt:lpstr>
      <vt:lpstr>Montserrat SemiBold</vt:lpstr>
      <vt:lpstr>NotoSans</vt:lpstr>
      <vt:lpstr>Default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Аларон</dc:creator>
  <cp:lastModifiedBy>Jeff Sage</cp:lastModifiedBy>
  <cp:revision>8467</cp:revision>
  <dcterms:created xsi:type="dcterms:W3CDTF">2014-11-12T21:47:38Z</dcterms:created>
  <dcterms:modified xsi:type="dcterms:W3CDTF">2025-03-19T16:36:37Z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0x010100969D4087D868A64280E6AC3E8F6B5810</vt:lpwstr>
  </property>
</Properties>
</file>